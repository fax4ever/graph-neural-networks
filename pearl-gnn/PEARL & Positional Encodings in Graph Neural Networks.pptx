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Plus Jakarta Sans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Plus Jakarta Sans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PlusJakartaSans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PlusJakartaSansMedium-italic.fntdata"/><Relationship Id="rId12" Type="http://schemas.openxmlformats.org/officeDocument/2006/relationships/slide" Target="slides/slide7.xml"/><Relationship Id="rId34" Type="http://schemas.openxmlformats.org/officeDocument/2006/relationships/font" Target="fonts/PlusJakartaSans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PlusJakartaSans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60f5d68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b60f5d68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b6f64773f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b6f64773f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6f64773f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6f64773f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6f64773f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6f64773f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6f64773f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b6f64773f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6f64773f1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b6f64773f1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7f771679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7f77167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857e600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b857e600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b857e6000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b857e6000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8bcd6fb5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8bcd6fb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857e6000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857e6000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b857e6000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b857e6000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8b79535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b8b79535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8b795352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b8b795352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b8bcd6fb57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b8bcd6fb57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b8bcd6fb5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b8bcd6fb5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b8bcd6fb5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b8bcd6fb5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8bcd6fb5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8bcd6fb5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b8bcd6fb5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b8bcd6fb5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accent5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6849412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228600" y="229900"/>
            <a:ext cx="4349400" cy="4683600"/>
          </a:xfrm>
          <a:prstGeom prst="roundRect">
            <a:avLst>
              <a:gd fmla="val 584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4679587" y="229900"/>
            <a:ext cx="2068500" cy="2068500"/>
          </a:xfrm>
          <a:prstGeom prst="roundRect">
            <a:avLst>
              <a:gd fmla="val 122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>
              <a:solidFill>
                <a:schemeClr val="accen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4679599" y="2404695"/>
            <a:ext cx="4238400" cy="2508900"/>
          </a:xfrm>
          <a:prstGeom prst="roundRect">
            <a:avLst>
              <a:gd fmla="val 101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24845" y="724771"/>
            <a:ext cx="2377504" cy="1078596"/>
            <a:chOff x="4571989" y="769200"/>
            <a:chExt cx="2320422" cy="1052700"/>
          </a:xfrm>
        </p:grpSpPr>
        <p:sp>
          <p:nvSpPr>
            <p:cNvPr id="14" name="Google Shape;14;p2"/>
            <p:cNvSpPr/>
            <p:nvPr/>
          </p:nvSpPr>
          <p:spPr>
            <a:xfrm>
              <a:off x="5691810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4571989" y="769200"/>
              <a:ext cx="1200600" cy="10527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7352898" y="762044"/>
            <a:ext cx="1061865" cy="1004215"/>
            <a:chOff x="7312075" y="834700"/>
            <a:chExt cx="1022400" cy="966799"/>
          </a:xfrm>
        </p:grpSpPr>
        <p:sp>
          <p:nvSpPr>
            <p:cNvPr id="17" name="Google Shape;17;p2"/>
            <p:cNvSpPr/>
            <p:nvPr/>
          </p:nvSpPr>
          <p:spPr>
            <a:xfrm>
              <a:off x="7312075" y="834700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312075" y="1363499"/>
              <a:ext cx="1022400" cy="438000"/>
            </a:xfrm>
            <a:prstGeom prst="roundRect">
              <a:avLst>
                <a:gd fmla="val 50000" name="adj"/>
              </a:avLst>
            </a:prstGeom>
            <a:noFill/>
            <a:ln cap="flat" cmpd="sng" w="1143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4897375" y="2609925"/>
            <a:ext cx="3679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600">
                <a:solidFill>
                  <a:schemeClr val="accent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">
  <p:cSld name="BLANK_1_2">
    <p:bg>
      <p:bgPr>
        <a:solidFill>
          <a:schemeClr val="accent5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7676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228600" y="228600"/>
            <a:ext cx="37131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3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3186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2" type="body"/>
          </p:nvPr>
        </p:nvSpPr>
        <p:spPr>
          <a:xfrm>
            <a:off x="6911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3" type="body"/>
          </p:nvPr>
        </p:nvSpPr>
        <p:spPr>
          <a:xfrm>
            <a:off x="2516100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4" type="body"/>
          </p:nvPr>
        </p:nvSpPr>
        <p:spPr>
          <a:xfrm>
            <a:off x="4713588" y="2984575"/>
            <a:ext cx="1914300" cy="158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381950" y="2393500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6" type="subTitle"/>
          </p:nvPr>
        </p:nvSpPr>
        <p:spPr>
          <a:xfrm>
            <a:off x="2574000" y="2378475"/>
            <a:ext cx="18549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7" type="subTitle"/>
          </p:nvPr>
        </p:nvSpPr>
        <p:spPr>
          <a:xfrm>
            <a:off x="4806538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8" type="subTitle"/>
          </p:nvPr>
        </p:nvSpPr>
        <p:spPr>
          <a:xfrm>
            <a:off x="7007100" y="2378475"/>
            <a:ext cx="1822800" cy="314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_1_1_1_1_1_1_1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1">
  <p:cSld name="BLANK_1_1_1_1_1_1_1_1_1_1_3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228600" y="632050"/>
            <a:ext cx="8686800" cy="3539400"/>
          </a:xfrm>
          <a:prstGeom prst="roundRect">
            <a:avLst>
              <a:gd fmla="val 5122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378975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3" type="body"/>
          </p:nvPr>
        </p:nvSpPr>
        <p:spPr>
          <a:xfrm>
            <a:off x="4774123" y="788021"/>
            <a:ext cx="3990900" cy="32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 2">
  <p:cSld name="BLANK_1_1_1_1_1_1_1_1_1_1_3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0" y="4400100"/>
            <a:ext cx="9144000" cy="74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" name="Google Shape;45;p8"/>
          <p:cNvSpPr txBox="1"/>
          <p:nvPr>
            <p:ph idx="1" type="subTitle"/>
          </p:nvPr>
        </p:nvSpPr>
        <p:spPr>
          <a:xfrm>
            <a:off x="228600" y="4619400"/>
            <a:ext cx="12318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3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4" type="subTitle"/>
          </p:nvPr>
        </p:nvSpPr>
        <p:spPr>
          <a:xfrm>
            <a:off x="927475" y="36926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"/>
              <a:buNone/>
              <a:defRPr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5" type="subTitle"/>
          </p:nvPr>
        </p:nvSpPr>
        <p:spPr>
          <a:xfrm>
            <a:off x="228600" y="12697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Plus Jakarta Sans Medium"/>
              <a:buNone/>
              <a:defRPr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6" type="subTitle"/>
          </p:nvPr>
        </p:nvSpPr>
        <p:spPr>
          <a:xfrm>
            <a:off x="228600" y="20731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lus Jakarta Sans Medium"/>
              <a:buNone/>
              <a:defRPr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deas">
  <p:cSld name="BLANK_1_1_1_1_1_1_1_1_1_1_1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228300" y="9219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7" name="Google Shape;57;p10"/>
          <p:cNvSpPr txBox="1"/>
          <p:nvPr>
            <p:ph idx="2" type="title"/>
          </p:nvPr>
        </p:nvSpPr>
        <p:spPr>
          <a:xfrm>
            <a:off x="4788000" y="917325"/>
            <a:ext cx="323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2286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781100" y="1345400"/>
            <a:ext cx="4134300" cy="11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4" type="subTitle"/>
          </p:nvPr>
        </p:nvSpPr>
        <p:spPr>
          <a:xfrm>
            <a:off x="5058000" y="3305850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5" type="body"/>
          </p:nvPr>
        </p:nvSpPr>
        <p:spPr>
          <a:xfrm>
            <a:off x="5058000" y="3595225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6" type="subTitle"/>
          </p:nvPr>
        </p:nvSpPr>
        <p:spPr>
          <a:xfrm>
            <a:off x="2438171" y="3305838"/>
            <a:ext cx="16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7" type="body"/>
          </p:nvPr>
        </p:nvSpPr>
        <p:spPr>
          <a:xfrm>
            <a:off x="2438171" y="3595213"/>
            <a:ext cx="16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4" name="Google Shape;64;p10"/>
          <p:cNvSpPr/>
          <p:nvPr>
            <p:ph idx="8" type="pic"/>
          </p:nvPr>
        </p:nvSpPr>
        <p:spPr>
          <a:xfrm>
            <a:off x="0" y="3029625"/>
            <a:ext cx="2178300" cy="18957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/>
          <p:nvPr>
            <p:ph idx="9" type="pic"/>
          </p:nvPr>
        </p:nvSpPr>
        <p:spPr>
          <a:xfrm>
            <a:off x="6965700" y="3010075"/>
            <a:ext cx="2178300" cy="189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idea">
  <p:cSld name="BLANK_1_1_1_1_1_1_1_1_1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/>
          <p:nvPr/>
        </p:nvSpPr>
        <p:spPr>
          <a:xfrm>
            <a:off x="0" y="3149700"/>
            <a:ext cx="5322300" cy="1993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" name="Google Shape;68;p11"/>
          <p:cNvSpPr txBox="1"/>
          <p:nvPr>
            <p:ph type="title"/>
          </p:nvPr>
        </p:nvSpPr>
        <p:spPr>
          <a:xfrm>
            <a:off x="228600" y="191575"/>
            <a:ext cx="42858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228600" y="1317900"/>
            <a:ext cx="4285800" cy="9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2" type="subTitle"/>
          </p:nvPr>
        </p:nvSpPr>
        <p:spPr>
          <a:xfrm>
            <a:off x="2286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3" type="body"/>
          </p:nvPr>
        </p:nvSpPr>
        <p:spPr>
          <a:xfrm>
            <a:off x="2286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4" type="subTitle"/>
          </p:nvPr>
        </p:nvSpPr>
        <p:spPr>
          <a:xfrm>
            <a:off x="2557500" y="3402700"/>
            <a:ext cx="195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5" type="body"/>
          </p:nvPr>
        </p:nvSpPr>
        <p:spPr>
          <a:xfrm>
            <a:off x="2557500" y="3692075"/>
            <a:ext cx="1956900" cy="9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4" name="Google Shape;74;p11"/>
          <p:cNvSpPr/>
          <p:nvPr>
            <p:ph idx="6" type="pic"/>
          </p:nvPr>
        </p:nvSpPr>
        <p:spPr>
          <a:xfrm rot="-5400000">
            <a:off x="4491900" y="497850"/>
            <a:ext cx="5156400" cy="4147800"/>
          </a:xfrm>
          <a:prstGeom prst="round2SameRect">
            <a:avLst>
              <a:gd fmla="val 8254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image">
  <p:cSld name="BLANK_1_1_1_1_1_1_1_1_1_1_1_1_1_1_1_1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>
            <p:ph idx="2" type="pic"/>
          </p:nvPr>
        </p:nvSpPr>
        <p:spPr>
          <a:xfrm>
            <a:off x="228650" y="2813125"/>
            <a:ext cx="8018700" cy="2099100"/>
          </a:xfrm>
          <a:prstGeom prst="roundRect">
            <a:avLst>
              <a:gd fmla="val 7988" name="adj"/>
            </a:avLst>
          </a:prstGeom>
          <a:noFill/>
          <a:ln>
            <a:noFill/>
          </a:ln>
        </p:spPr>
      </p:sp>
      <p:sp>
        <p:nvSpPr>
          <p:cNvPr id="77" name="Google Shape;77;p12"/>
          <p:cNvSpPr txBox="1"/>
          <p:nvPr>
            <p:ph idx="1" type="subTitle"/>
          </p:nvPr>
        </p:nvSpPr>
        <p:spPr>
          <a:xfrm>
            <a:off x="228600" y="947332"/>
            <a:ext cx="64803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type="title"/>
          </p:nvPr>
        </p:nvSpPr>
        <p:spPr>
          <a:xfrm>
            <a:off x="228600" y="228600"/>
            <a:ext cx="64803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1">
  <p:cSld name="BLANK_1_1_1_1_1_1_1_1_1_1_1_1_1_1_1_1_1_1_1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>
            <p:ph idx="2" type="pic"/>
          </p:nvPr>
        </p:nvSpPr>
        <p:spPr>
          <a:xfrm>
            <a:off x="354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1" name="Google Shape;81;p13"/>
          <p:cNvSpPr/>
          <p:nvPr>
            <p:ph idx="3" type="pic"/>
          </p:nvPr>
        </p:nvSpPr>
        <p:spPr>
          <a:xfrm>
            <a:off x="2555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2" name="Google Shape;82;p13"/>
          <p:cNvSpPr/>
          <p:nvPr>
            <p:ph idx="4" type="pic"/>
          </p:nvPr>
        </p:nvSpPr>
        <p:spPr>
          <a:xfrm>
            <a:off x="47557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3" name="Google Shape;83;p13"/>
          <p:cNvSpPr/>
          <p:nvPr>
            <p:ph idx="5" type="pic"/>
          </p:nvPr>
        </p:nvSpPr>
        <p:spPr>
          <a:xfrm>
            <a:off x="6956250" y="1034550"/>
            <a:ext cx="1833000" cy="1833000"/>
          </a:xfrm>
          <a:prstGeom prst="roundRect">
            <a:avLst>
              <a:gd fmla="val 8703" name="adj"/>
            </a:avLst>
          </a:prstGeom>
          <a:noFill/>
          <a:ln>
            <a:noFill/>
          </a:ln>
        </p:spPr>
      </p:sp>
      <p:sp>
        <p:nvSpPr>
          <p:cNvPr id="84" name="Google Shape;84;p13"/>
          <p:cNvSpPr txBox="1"/>
          <p:nvPr>
            <p:ph idx="1" type="subTitle"/>
          </p:nvPr>
        </p:nvSpPr>
        <p:spPr>
          <a:xfrm>
            <a:off x="399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6" type="subTitle"/>
          </p:nvPr>
        </p:nvSpPr>
        <p:spPr>
          <a:xfrm>
            <a:off x="399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6" name="Google Shape;86;p13"/>
          <p:cNvSpPr txBox="1"/>
          <p:nvPr>
            <p:ph idx="7" type="body"/>
          </p:nvPr>
        </p:nvSpPr>
        <p:spPr>
          <a:xfrm>
            <a:off x="399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8" type="subTitle"/>
          </p:nvPr>
        </p:nvSpPr>
        <p:spPr>
          <a:xfrm>
            <a:off x="2600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9" type="subTitle"/>
          </p:nvPr>
        </p:nvSpPr>
        <p:spPr>
          <a:xfrm>
            <a:off x="2600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89" name="Google Shape;89;p13"/>
          <p:cNvSpPr txBox="1"/>
          <p:nvPr>
            <p:ph idx="13" type="body"/>
          </p:nvPr>
        </p:nvSpPr>
        <p:spPr>
          <a:xfrm>
            <a:off x="2600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14" type="subTitle"/>
          </p:nvPr>
        </p:nvSpPr>
        <p:spPr>
          <a:xfrm>
            <a:off x="48007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idx="15" type="subTitle"/>
          </p:nvPr>
        </p:nvSpPr>
        <p:spPr>
          <a:xfrm>
            <a:off x="48007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2" name="Google Shape;92;p13"/>
          <p:cNvSpPr txBox="1"/>
          <p:nvPr>
            <p:ph idx="16" type="body"/>
          </p:nvPr>
        </p:nvSpPr>
        <p:spPr>
          <a:xfrm>
            <a:off x="48007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3" name="Google Shape;93;p13"/>
          <p:cNvSpPr txBox="1"/>
          <p:nvPr>
            <p:ph idx="17" type="subTitle"/>
          </p:nvPr>
        </p:nvSpPr>
        <p:spPr>
          <a:xfrm>
            <a:off x="7001225" y="303465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8" type="subTitle"/>
          </p:nvPr>
        </p:nvSpPr>
        <p:spPr>
          <a:xfrm>
            <a:off x="7001225" y="3246100"/>
            <a:ext cx="17169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5" name="Google Shape;95;p13"/>
          <p:cNvSpPr txBox="1"/>
          <p:nvPr>
            <p:ph idx="19" type="body"/>
          </p:nvPr>
        </p:nvSpPr>
        <p:spPr>
          <a:xfrm>
            <a:off x="7001225" y="3628825"/>
            <a:ext cx="1716900" cy="9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team 2">
  <p:cSld name="BLANK_1_1_1_1_1_1_1_1_1_1_1_1_1_1_1_1_1_1_1_1_1_1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idx="1" type="subTitle"/>
          </p:nvPr>
        </p:nvSpPr>
        <p:spPr>
          <a:xfrm>
            <a:off x="35390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2" type="subTitle"/>
          </p:nvPr>
        </p:nvSpPr>
        <p:spPr>
          <a:xfrm>
            <a:off x="35390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99" name="Google Shape;99;p14"/>
          <p:cNvSpPr/>
          <p:nvPr>
            <p:ph idx="3" type="pic"/>
          </p:nvPr>
        </p:nvSpPr>
        <p:spPr>
          <a:xfrm>
            <a:off x="32105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0" name="Google Shape;100;p14"/>
          <p:cNvSpPr txBox="1"/>
          <p:nvPr>
            <p:ph idx="4" type="subTitle"/>
          </p:nvPr>
        </p:nvSpPr>
        <p:spPr>
          <a:xfrm>
            <a:off x="2003288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5" type="subTitle"/>
          </p:nvPr>
        </p:nvSpPr>
        <p:spPr>
          <a:xfrm>
            <a:off x="2003288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2" name="Google Shape;102;p14"/>
          <p:cNvSpPr/>
          <p:nvPr>
            <p:ph idx="6" type="pic"/>
          </p:nvPr>
        </p:nvSpPr>
        <p:spPr>
          <a:xfrm>
            <a:off x="1970438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7" type="subTitle"/>
          </p:nvPr>
        </p:nvSpPr>
        <p:spPr>
          <a:xfrm>
            <a:off x="3652675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4" name="Google Shape;104;p14"/>
          <p:cNvSpPr txBox="1"/>
          <p:nvPr>
            <p:ph idx="8" type="subTitle"/>
          </p:nvPr>
        </p:nvSpPr>
        <p:spPr>
          <a:xfrm>
            <a:off x="3652675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5" name="Google Shape;105;p14"/>
          <p:cNvSpPr/>
          <p:nvPr>
            <p:ph idx="9" type="pic"/>
          </p:nvPr>
        </p:nvSpPr>
        <p:spPr>
          <a:xfrm>
            <a:off x="3619825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6" name="Google Shape;106;p14"/>
          <p:cNvSpPr txBox="1"/>
          <p:nvPr>
            <p:ph idx="13" type="subTitle"/>
          </p:nvPr>
        </p:nvSpPr>
        <p:spPr>
          <a:xfrm>
            <a:off x="5302050" y="226600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07" name="Google Shape;107;p14"/>
          <p:cNvSpPr txBox="1"/>
          <p:nvPr>
            <p:ph idx="14" type="subTitle"/>
          </p:nvPr>
        </p:nvSpPr>
        <p:spPr>
          <a:xfrm>
            <a:off x="5302050" y="247100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08" name="Google Shape;108;p14"/>
          <p:cNvSpPr/>
          <p:nvPr>
            <p:ph idx="15" type="pic"/>
          </p:nvPr>
        </p:nvSpPr>
        <p:spPr>
          <a:xfrm>
            <a:off x="5269200" y="82575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09" name="Google Shape;109;p14"/>
          <p:cNvSpPr txBox="1"/>
          <p:nvPr>
            <p:ph idx="16" type="subTitle"/>
          </p:nvPr>
        </p:nvSpPr>
        <p:spPr>
          <a:xfrm>
            <a:off x="200330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17" type="subTitle"/>
          </p:nvPr>
        </p:nvSpPr>
        <p:spPr>
          <a:xfrm>
            <a:off x="200330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1" name="Google Shape;111;p14"/>
          <p:cNvSpPr/>
          <p:nvPr>
            <p:ph idx="18" type="pic"/>
          </p:nvPr>
        </p:nvSpPr>
        <p:spPr>
          <a:xfrm>
            <a:off x="197045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2" name="Google Shape;112;p14"/>
          <p:cNvSpPr txBox="1"/>
          <p:nvPr>
            <p:ph idx="19" type="subTitle"/>
          </p:nvPr>
        </p:nvSpPr>
        <p:spPr>
          <a:xfrm>
            <a:off x="3652688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20" type="subTitle"/>
          </p:nvPr>
        </p:nvSpPr>
        <p:spPr>
          <a:xfrm>
            <a:off x="3652688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4" name="Google Shape;114;p14"/>
          <p:cNvSpPr/>
          <p:nvPr>
            <p:ph idx="21" type="pic"/>
          </p:nvPr>
        </p:nvSpPr>
        <p:spPr>
          <a:xfrm>
            <a:off x="3619838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5" name="Google Shape;115;p14"/>
          <p:cNvSpPr txBox="1"/>
          <p:nvPr>
            <p:ph idx="22" type="subTitle"/>
          </p:nvPr>
        </p:nvSpPr>
        <p:spPr>
          <a:xfrm>
            <a:off x="5302075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6" name="Google Shape;116;p14"/>
          <p:cNvSpPr txBox="1"/>
          <p:nvPr>
            <p:ph idx="23" type="subTitle"/>
          </p:nvPr>
        </p:nvSpPr>
        <p:spPr>
          <a:xfrm>
            <a:off x="5302075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17" name="Google Shape;117;p14"/>
          <p:cNvSpPr/>
          <p:nvPr>
            <p:ph idx="24" type="pic"/>
          </p:nvPr>
        </p:nvSpPr>
        <p:spPr>
          <a:xfrm>
            <a:off x="5269225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  <p:sp>
        <p:nvSpPr>
          <p:cNvPr id="118" name="Google Shape;118;p14"/>
          <p:cNvSpPr txBox="1"/>
          <p:nvPr>
            <p:ph idx="25" type="subTitle"/>
          </p:nvPr>
        </p:nvSpPr>
        <p:spPr>
          <a:xfrm>
            <a:off x="6951450" y="4416250"/>
            <a:ext cx="10983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us Jakarta Sans Medium"/>
              <a:buNone/>
              <a:defRPr sz="1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6" type="subTitle"/>
          </p:nvPr>
        </p:nvSpPr>
        <p:spPr>
          <a:xfrm>
            <a:off x="6951450" y="4621250"/>
            <a:ext cx="1257300" cy="13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120" name="Google Shape;120;p14"/>
          <p:cNvSpPr/>
          <p:nvPr>
            <p:ph idx="27" type="pic"/>
          </p:nvPr>
        </p:nvSpPr>
        <p:spPr>
          <a:xfrm>
            <a:off x="6918600" y="2976000"/>
            <a:ext cx="1342200" cy="1342200"/>
          </a:xfrm>
          <a:prstGeom prst="roundRect">
            <a:avLst>
              <a:gd fmla="val 861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ersonas">
  <p:cSld name="BLANK_1_1_1_1_1_1_1_1_1_1_1_1_1_1_1_1_1_1_1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>
            <p:ph idx="2" type="pic"/>
          </p:nvPr>
        </p:nvSpPr>
        <p:spPr>
          <a:xfrm>
            <a:off x="2283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3" name="Google Shape;123;p15"/>
          <p:cNvSpPr/>
          <p:nvPr>
            <p:ph idx="3" type="pic"/>
          </p:nvPr>
        </p:nvSpPr>
        <p:spPr>
          <a:xfrm>
            <a:off x="4781400" y="912725"/>
            <a:ext cx="1833000" cy="2294100"/>
          </a:xfrm>
          <a:prstGeom prst="roundRect">
            <a:avLst>
              <a:gd fmla="val 12454" name="adj"/>
            </a:avLst>
          </a:prstGeom>
          <a:noFill/>
          <a:ln>
            <a:noFill/>
          </a:ln>
        </p:spPr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22707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4" type="body"/>
          </p:nvPr>
        </p:nvSpPr>
        <p:spPr>
          <a:xfrm>
            <a:off x="6823800" y="968925"/>
            <a:ext cx="2091900" cy="28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5" type="subTitle"/>
          </p:nvPr>
        </p:nvSpPr>
        <p:spPr>
          <a:xfrm>
            <a:off x="27765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6" type="subTitle"/>
          </p:nvPr>
        </p:nvSpPr>
        <p:spPr>
          <a:xfrm>
            <a:off x="4835100" y="3373825"/>
            <a:ext cx="17256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lus Jakarta Sans Medium"/>
              <a:buNone/>
              <a:defRPr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Plus Jakarta Sans Medium"/>
              <a:buNone/>
              <a:defRPr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ups">
  <p:cSld name="BLANK_1_1_1_1_1_1_1_1_1_1_1_1_1_1_1_1_1_1_1_1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228600" y="741875"/>
            <a:ext cx="64803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000"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228625" y="4191000"/>
            <a:ext cx="1113600" cy="71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1" name="Google Shape;131;p16"/>
          <p:cNvSpPr/>
          <p:nvPr>
            <p:ph idx="2" type="pic"/>
          </p:nvPr>
        </p:nvSpPr>
        <p:spPr>
          <a:xfrm>
            <a:off x="2285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6"/>
          <p:cNvSpPr/>
          <p:nvPr>
            <p:ph idx="3" type="pic"/>
          </p:nvPr>
        </p:nvSpPr>
        <p:spPr>
          <a:xfrm>
            <a:off x="824775" y="157125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6"/>
          <p:cNvSpPr/>
          <p:nvPr>
            <p:ph idx="4" type="pic"/>
          </p:nvPr>
        </p:nvSpPr>
        <p:spPr>
          <a:xfrm>
            <a:off x="2285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6"/>
          <p:cNvSpPr/>
          <p:nvPr>
            <p:ph idx="5" type="pic"/>
          </p:nvPr>
        </p:nvSpPr>
        <p:spPr>
          <a:xfrm>
            <a:off x="824750" y="216532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6"/>
          <p:cNvSpPr/>
          <p:nvPr>
            <p:ph idx="6" type="pic"/>
          </p:nvPr>
        </p:nvSpPr>
        <p:spPr>
          <a:xfrm>
            <a:off x="2285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6" name="Google Shape;136;p16"/>
          <p:cNvSpPr/>
          <p:nvPr>
            <p:ph idx="7" type="pic"/>
          </p:nvPr>
        </p:nvSpPr>
        <p:spPr>
          <a:xfrm>
            <a:off x="824788" y="2759400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7" name="Google Shape;137;p16"/>
          <p:cNvSpPr/>
          <p:nvPr>
            <p:ph idx="8" type="pic"/>
          </p:nvPr>
        </p:nvSpPr>
        <p:spPr>
          <a:xfrm>
            <a:off x="2285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8" name="Google Shape;138;p16"/>
          <p:cNvSpPr/>
          <p:nvPr>
            <p:ph idx="9" type="pic"/>
          </p:nvPr>
        </p:nvSpPr>
        <p:spPr>
          <a:xfrm>
            <a:off x="824763" y="3353475"/>
            <a:ext cx="517500" cy="517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BLANK_1_1_1_1_1_1_1_1_1_1_1_1_1_1_1_1_1_1_1_1_1_1_1_1">
    <p:bg>
      <p:bgPr>
        <a:solidFill>
          <a:schemeClr val="accent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2">
  <p:cSld name="BLANK_1_1_1_1_1_1_1_1_1_1_1_1_1_1_1_1_1_1_1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Plus Jakarta Sans"/>
              <a:buNone/>
              <a:defRPr sz="1800"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3">
  <p:cSld name="BLANK_1_1_1_1_1_1_1_1_1_1_1_1_1_1_1_1_1_1_1_1_1_1_1_1_1_1">
    <p:bg>
      <p:bgPr>
        <a:solidFill>
          <a:schemeClr val="accent5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228600" y="228600"/>
            <a:ext cx="64215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228600" y="952675"/>
            <a:ext cx="6480300" cy="17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2"/>
              </a:buClr>
              <a:buSzPts val="1800"/>
              <a:buFont typeface="Plus Jakarta Sans"/>
              <a:buNone/>
              <a:defRPr sz="18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1">
  <p:cSld name="BLANK_1_1_1_1_1_1_1_1_1_1_1_1_1_1_1_1_1_1_1_1_1_1_1_1_1_2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/>
          <p:nvPr>
            <p:ph idx="2" type="pic"/>
          </p:nvPr>
        </p:nvSpPr>
        <p:spPr>
          <a:xfrm>
            <a:off x="4577975" y="632250"/>
            <a:ext cx="4349400" cy="4281600"/>
          </a:xfrm>
          <a:prstGeom prst="roundRect">
            <a:avLst>
              <a:gd fmla="val 6217" name="adj"/>
            </a:avLst>
          </a:prstGeom>
          <a:noFill/>
          <a:ln>
            <a:noFill/>
          </a:ln>
        </p:spPr>
      </p:sp>
      <p:sp>
        <p:nvSpPr>
          <p:cNvPr id="149" name="Google Shape;149;p20"/>
          <p:cNvSpPr/>
          <p:nvPr>
            <p:ph idx="3" type="pic"/>
          </p:nvPr>
        </p:nvSpPr>
        <p:spPr>
          <a:xfrm>
            <a:off x="228775" y="2621175"/>
            <a:ext cx="4238400" cy="2293500"/>
          </a:xfrm>
          <a:prstGeom prst="roundRect">
            <a:avLst>
              <a:gd fmla="val 9802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/>
          <p:nvPr>
            <p:ph idx="4" type="pic"/>
          </p:nvPr>
        </p:nvSpPr>
        <p:spPr>
          <a:xfrm>
            <a:off x="2287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  <p:sp>
        <p:nvSpPr>
          <p:cNvPr id="151" name="Google Shape;151;p20"/>
          <p:cNvSpPr/>
          <p:nvPr>
            <p:ph idx="5" type="pic"/>
          </p:nvPr>
        </p:nvSpPr>
        <p:spPr>
          <a:xfrm>
            <a:off x="2403375" y="632025"/>
            <a:ext cx="2068500" cy="1890900"/>
          </a:xfrm>
          <a:prstGeom prst="roundRect">
            <a:avLst>
              <a:gd fmla="val 1188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odboard 2">
  <p:cSld name="BLANK_1_1_1_1_1_1_1_1_1_1_1_1_1_1_1_1_1_1_1_1_1_1_1_1_1_2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>
            <p:ph idx="2" type="pic"/>
          </p:nvPr>
        </p:nvSpPr>
        <p:spPr>
          <a:xfrm>
            <a:off x="22862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4" name="Google Shape;154;p21"/>
          <p:cNvSpPr txBox="1"/>
          <p:nvPr>
            <p:ph idx="1" type="subTitle"/>
          </p:nvPr>
        </p:nvSpPr>
        <p:spPr>
          <a:xfrm>
            <a:off x="40170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5" name="Google Shape;155;p21"/>
          <p:cNvSpPr/>
          <p:nvPr>
            <p:ph idx="3" type="pic"/>
          </p:nvPr>
        </p:nvSpPr>
        <p:spPr>
          <a:xfrm>
            <a:off x="2429113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6" name="Google Shape;156;p21"/>
          <p:cNvSpPr txBox="1"/>
          <p:nvPr>
            <p:ph idx="4" type="subTitle"/>
          </p:nvPr>
        </p:nvSpPr>
        <p:spPr>
          <a:xfrm>
            <a:off x="2602188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7" name="Google Shape;157;p21"/>
          <p:cNvSpPr/>
          <p:nvPr>
            <p:ph idx="5" type="pic"/>
          </p:nvPr>
        </p:nvSpPr>
        <p:spPr>
          <a:xfrm>
            <a:off x="4629600" y="6319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58" name="Google Shape;158;p21"/>
          <p:cNvSpPr txBox="1"/>
          <p:nvPr>
            <p:ph idx="6" type="subTitle"/>
          </p:nvPr>
        </p:nvSpPr>
        <p:spPr>
          <a:xfrm>
            <a:off x="4802675" y="35679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id="159" name="Google Shape;159;p21"/>
          <p:cNvSpPr/>
          <p:nvPr>
            <p:ph idx="7" type="pic"/>
          </p:nvPr>
        </p:nvSpPr>
        <p:spPr>
          <a:xfrm>
            <a:off x="6830075" y="632025"/>
            <a:ext cx="2085300" cy="2768700"/>
          </a:xfrm>
          <a:prstGeom prst="round2SameRect">
            <a:avLst>
              <a:gd fmla="val 1178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0" name="Google Shape;160;p21"/>
          <p:cNvSpPr txBox="1"/>
          <p:nvPr>
            <p:ph idx="8" type="subTitle"/>
          </p:nvPr>
        </p:nvSpPr>
        <p:spPr>
          <a:xfrm>
            <a:off x="7003150" y="3568050"/>
            <a:ext cx="1702200" cy="3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Plus Jakarta Sans Medium"/>
              <a:buNone/>
              <a:defRPr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ITLE_1_1_4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/>
          <p:nvPr/>
        </p:nvSpPr>
        <p:spPr>
          <a:xfrm>
            <a:off x="6625332" y="229950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235213" y="229950"/>
            <a:ext cx="6282300" cy="4683600"/>
          </a:xfrm>
          <a:prstGeom prst="roundRect">
            <a:avLst>
              <a:gd fmla="val 584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6625786" y="2630415"/>
            <a:ext cx="2283000" cy="2283000"/>
          </a:xfrm>
          <a:prstGeom prst="roundRect">
            <a:avLst>
              <a:gd fmla="val 1221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" name="Google Shape;165;p22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4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9pPr>
          </a:lstStyle>
          <a:p/>
        </p:txBody>
      </p:sp>
      <p:sp>
        <p:nvSpPr>
          <p:cNvPr descr="A donut shape" id="166" name="Google Shape;166;p22"/>
          <p:cNvSpPr/>
          <p:nvPr/>
        </p:nvSpPr>
        <p:spPr>
          <a:xfrm>
            <a:off x="7134588" y="3139675"/>
            <a:ext cx="1264500" cy="1264500"/>
          </a:xfrm>
          <a:prstGeom prst="donut">
            <a:avLst>
              <a:gd fmla="val 25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descr="A star icon" id="167" name="Google Shape;167;p22"/>
          <p:cNvSpPr/>
          <p:nvPr/>
        </p:nvSpPr>
        <p:spPr>
          <a:xfrm>
            <a:off x="7092288" y="697800"/>
            <a:ext cx="1349100" cy="1347300"/>
          </a:xfrm>
          <a:prstGeom prst="plaque">
            <a:avLst>
              <a:gd fmla="val 4491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CUSTOM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 rot="5400000">
            <a:off x="-285900" y="285900"/>
            <a:ext cx="5143500" cy="4571700"/>
          </a:xfrm>
          <a:prstGeom prst="round2SameRect">
            <a:avLst>
              <a:gd fmla="val 689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0" name="Google Shape;170;p23"/>
          <p:cNvSpPr txBox="1"/>
          <p:nvPr>
            <p:ph idx="1" type="subTitle"/>
          </p:nvPr>
        </p:nvSpPr>
        <p:spPr>
          <a:xfrm>
            <a:off x="293700" y="295600"/>
            <a:ext cx="772500" cy="1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3"/>
          <p:cNvSpPr txBox="1"/>
          <p:nvPr>
            <p:ph idx="2" type="subTitle"/>
          </p:nvPr>
        </p:nvSpPr>
        <p:spPr>
          <a:xfrm>
            <a:off x="4810050" y="4624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2" name="Google Shape;172;p23"/>
          <p:cNvSpPr txBox="1"/>
          <p:nvPr>
            <p:ph idx="3" type="subTitle"/>
          </p:nvPr>
        </p:nvSpPr>
        <p:spPr>
          <a:xfrm>
            <a:off x="4810050" y="140697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4" type="subTitle"/>
          </p:nvPr>
        </p:nvSpPr>
        <p:spPr>
          <a:xfrm>
            <a:off x="4810050" y="235155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5" type="subTitle"/>
          </p:nvPr>
        </p:nvSpPr>
        <p:spPr>
          <a:xfrm>
            <a:off x="4810050" y="3296125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6" type="subTitle"/>
          </p:nvPr>
        </p:nvSpPr>
        <p:spPr>
          <a:xfrm>
            <a:off x="4810050" y="4240700"/>
            <a:ext cx="4048500" cy="44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type="title"/>
          </p:nvPr>
        </p:nvSpPr>
        <p:spPr>
          <a:xfrm>
            <a:off x="228600" y="1001425"/>
            <a:ext cx="3912900" cy="24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">
  <p:cSld name="CUSTOM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79" name="Google Shape;179;p24"/>
          <p:cNvSpPr/>
          <p:nvPr>
            <p:ph idx="2" type="pic"/>
          </p:nvPr>
        </p:nvSpPr>
        <p:spPr>
          <a:xfrm>
            <a:off x="230700" y="911875"/>
            <a:ext cx="1751400" cy="2634000"/>
          </a:xfrm>
          <a:prstGeom prst="round2SameRect">
            <a:avLst>
              <a:gd fmla="val 1265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314750" y="36774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" name="Google Shape;181;p24"/>
          <p:cNvSpPr/>
          <p:nvPr>
            <p:ph idx="3" type="pic"/>
          </p:nvPr>
        </p:nvSpPr>
        <p:spPr>
          <a:xfrm>
            <a:off x="2867100" y="480475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2" name="Google Shape;182;p24"/>
          <p:cNvSpPr/>
          <p:nvPr>
            <p:ph idx="4" type="pic"/>
          </p:nvPr>
        </p:nvSpPr>
        <p:spPr>
          <a:xfrm>
            <a:off x="2867100" y="2804388"/>
            <a:ext cx="1746300" cy="1337400"/>
          </a:xfrm>
          <a:prstGeom prst="round2SameRect">
            <a:avLst>
              <a:gd fmla="val 11765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3" name="Google Shape;183;p24"/>
          <p:cNvSpPr/>
          <p:nvPr>
            <p:ph idx="5" type="pic"/>
          </p:nvPr>
        </p:nvSpPr>
        <p:spPr>
          <a:xfrm rot="-5400000">
            <a:off x="5934450" y="-278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4" name="Google Shape;184;p24"/>
          <p:cNvSpPr/>
          <p:nvPr>
            <p:ph idx="6" type="pic"/>
          </p:nvPr>
        </p:nvSpPr>
        <p:spPr>
          <a:xfrm rot="-5400000">
            <a:off x="5934450" y="1470950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5" name="Google Shape;185;p24"/>
          <p:cNvSpPr/>
          <p:nvPr>
            <p:ph idx="7" type="pic"/>
          </p:nvPr>
        </p:nvSpPr>
        <p:spPr>
          <a:xfrm rot="-5400000">
            <a:off x="5934450" y="2969725"/>
            <a:ext cx="1344300" cy="2202000"/>
          </a:xfrm>
          <a:prstGeom prst="round2SameRect">
            <a:avLst>
              <a:gd fmla="val 9438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8" type="subTitle"/>
          </p:nvPr>
        </p:nvSpPr>
        <p:spPr>
          <a:xfrm>
            <a:off x="2961150" y="1899800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9" type="subTitle"/>
          </p:nvPr>
        </p:nvSpPr>
        <p:spPr>
          <a:xfrm>
            <a:off x="2961150" y="4252075"/>
            <a:ext cx="1565400" cy="3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3" type="subTitle"/>
          </p:nvPr>
        </p:nvSpPr>
        <p:spPr>
          <a:xfrm>
            <a:off x="7827000" y="5227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9" name="Google Shape;189;p24"/>
          <p:cNvSpPr txBox="1"/>
          <p:nvPr>
            <p:ph idx="14" type="subTitle"/>
          </p:nvPr>
        </p:nvSpPr>
        <p:spPr>
          <a:xfrm>
            <a:off x="7827000" y="203675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24"/>
          <p:cNvSpPr txBox="1"/>
          <p:nvPr>
            <p:ph idx="15" type="subTitle"/>
          </p:nvPr>
        </p:nvSpPr>
        <p:spPr>
          <a:xfrm>
            <a:off x="7827000" y="3550800"/>
            <a:ext cx="952500" cy="10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r journey ALT 1">
  <p:cSld name="CUSTOM_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28600" y="229900"/>
            <a:ext cx="992400" cy="292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User journey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347850" y="188845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2" type="body"/>
          </p:nvPr>
        </p:nvSpPr>
        <p:spPr>
          <a:xfrm>
            <a:off x="6079400" y="4058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5" name="Google Shape;195;p25"/>
          <p:cNvSpPr txBox="1"/>
          <p:nvPr>
            <p:ph idx="3" type="body"/>
          </p:nvPr>
        </p:nvSpPr>
        <p:spPr>
          <a:xfrm>
            <a:off x="6079400" y="1606817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25"/>
          <p:cNvSpPr txBox="1"/>
          <p:nvPr>
            <p:ph idx="4" type="body"/>
          </p:nvPr>
        </p:nvSpPr>
        <p:spPr>
          <a:xfrm>
            <a:off x="6079400" y="2807783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25"/>
          <p:cNvSpPr txBox="1"/>
          <p:nvPr>
            <p:ph idx="5" type="body"/>
          </p:nvPr>
        </p:nvSpPr>
        <p:spPr>
          <a:xfrm>
            <a:off x="6079400" y="4008750"/>
            <a:ext cx="2683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8" name="Google Shape;198;p25"/>
          <p:cNvSpPr txBox="1"/>
          <p:nvPr>
            <p:ph idx="6" type="body"/>
          </p:nvPr>
        </p:nvSpPr>
        <p:spPr>
          <a:xfrm>
            <a:off x="3213625" y="662625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9" name="Google Shape;199;p25"/>
          <p:cNvSpPr txBox="1"/>
          <p:nvPr>
            <p:ph idx="7" type="body"/>
          </p:nvPr>
        </p:nvSpPr>
        <p:spPr>
          <a:xfrm>
            <a:off x="3213625" y="3056300"/>
            <a:ext cx="1780800" cy="14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8" name="Google Shape;208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8" name="Google Shape;218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9" name="Google Shape;219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9" name="Google Shape;229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" name="Google Shape;231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6" name="Google Shape;236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2" name="Google Shape;242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5" name="Google Shape;245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6" name="Google Shape;246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7" name="Google Shape;247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8" name="Google Shape;248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9" name="Google Shape;249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0" name="Google Shape;250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3" name="Google Shape;253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4" name="Google Shape;254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6" name="Google Shape;256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7" name="Google Shape;257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6" name="Google Shape;266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68" name="Google Shape;268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9" name="Google Shape;26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1" name="Google Shape;271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4" name="Google Shape;274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7" name="Google Shape;277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2" name="Google Shape;282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1" name="Google Shape;291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2" name="Google Shape;292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2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41375" y="356475"/>
            <a:ext cx="2860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7400" y="1551575"/>
            <a:ext cx="5666400" cy="24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orient="horz" pos="144">
          <p15:clr>
            <a:srgbClr val="E46962"/>
          </p15:clr>
        </p15:guide>
        <p15:guide id="3" pos="144">
          <p15:clr>
            <a:srgbClr val="E46962"/>
          </p15:clr>
        </p15:guide>
        <p15:guide id="4" orient="horz" pos="309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idx="1" type="subTitle"/>
          </p:nvPr>
        </p:nvSpPr>
        <p:spPr>
          <a:xfrm>
            <a:off x="4897375" y="2609925"/>
            <a:ext cx="3679800" cy="6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Student: Fabio Massimo Ercoli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Code: 802397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Course: Neural Networks</a:t>
            </a:r>
            <a:endParaRPr/>
          </a:p>
        </p:txBody>
      </p:sp>
      <p:sp>
        <p:nvSpPr>
          <p:cNvPr id="301" name="Google Shape;301;p45"/>
          <p:cNvSpPr txBox="1"/>
          <p:nvPr>
            <p:ph type="title"/>
          </p:nvPr>
        </p:nvSpPr>
        <p:spPr>
          <a:xfrm>
            <a:off x="563400" y="3695700"/>
            <a:ext cx="3679800" cy="93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PEARL &amp; </a:t>
            </a:r>
            <a:r>
              <a:rPr lang="en" sz="4000"/>
              <a:t>Positional Encodings in Graph Neural Networks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307" name="Google Shape;307;p46"/>
          <p:cNvSpPr txBox="1"/>
          <p:nvPr>
            <p:ph idx="1" type="subTitle"/>
          </p:nvPr>
        </p:nvSpPr>
        <p:spPr>
          <a:xfrm>
            <a:off x="228600" y="952675"/>
            <a:ext cx="6631200" cy="386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r>
              <a:rPr lang="en"/>
              <a:t>. Graph Isomorphism Networks (GIN)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2. Positional Econding: LSPE, SignNet, BasisNet,  SPE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3. Positional Econding: R-PEARL,  </a:t>
            </a:r>
            <a:r>
              <a:rPr lang="en">
                <a:solidFill>
                  <a:schemeClr val="lt1"/>
                </a:solidFill>
              </a:rPr>
              <a:t>B-PEARL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4. PEARL: Implementation Overview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5. Results and Conclusions</a:t>
            </a:r>
            <a:endParaRPr/>
          </a:p>
        </p:txBody>
      </p:sp>
      <p:grpSp>
        <p:nvGrpSpPr>
          <p:cNvPr id="308" name="Google Shape;308;p46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309" name="Google Shape;309;p46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310" name="Google Shape;310;p46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311" name="Google Shape;311;p46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312" name="Google Shape;312;p46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/>
          <p:nvPr/>
        </p:nvSpPr>
        <p:spPr>
          <a:xfrm rot="5400000">
            <a:off x="4085675" y="-2283925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8" name="Google Shape;318;p47"/>
          <p:cNvGrpSpPr/>
          <p:nvPr/>
        </p:nvGrpSpPr>
        <p:grpSpPr>
          <a:xfrm>
            <a:off x="8303624" y="2057923"/>
            <a:ext cx="507910" cy="230400"/>
            <a:chOff x="8303624" y="2057923"/>
            <a:chExt cx="507910" cy="230400"/>
          </a:xfrm>
        </p:grpSpPr>
        <p:sp>
          <p:nvSpPr>
            <p:cNvPr id="319" name="Google Shape;319;p47"/>
            <p:cNvSpPr/>
            <p:nvPr/>
          </p:nvSpPr>
          <p:spPr>
            <a:xfrm>
              <a:off x="854873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0" name="Google Shape;320;p47"/>
            <p:cNvSpPr/>
            <p:nvPr/>
          </p:nvSpPr>
          <p:spPr>
            <a:xfrm flipH="1">
              <a:off x="830362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1" name="Google Shape;321;p47"/>
          <p:cNvSpPr/>
          <p:nvPr/>
        </p:nvSpPr>
        <p:spPr>
          <a:xfrm rot="5400000">
            <a:off x="4085675" y="-3093400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47"/>
          <p:cNvGrpSpPr/>
          <p:nvPr/>
        </p:nvGrpSpPr>
        <p:grpSpPr>
          <a:xfrm>
            <a:off x="8444109" y="1249761"/>
            <a:ext cx="227100" cy="214646"/>
            <a:chOff x="8444109" y="1249761"/>
            <a:chExt cx="227100" cy="214646"/>
          </a:xfrm>
        </p:grpSpPr>
        <p:sp>
          <p:nvSpPr>
            <p:cNvPr id="323" name="Google Shape;323;p47"/>
            <p:cNvSpPr/>
            <p:nvPr/>
          </p:nvSpPr>
          <p:spPr>
            <a:xfrm>
              <a:off x="8444109" y="1249761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4" name="Google Shape;324;p47"/>
            <p:cNvSpPr/>
            <p:nvPr/>
          </p:nvSpPr>
          <p:spPr>
            <a:xfrm>
              <a:off x="8444109" y="1367207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25" name="Google Shape;325;p47"/>
          <p:cNvSpPr/>
          <p:nvPr/>
        </p:nvSpPr>
        <p:spPr>
          <a:xfrm rot="5400000">
            <a:off x="4085675" y="-664687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7"/>
          <p:cNvSpPr/>
          <p:nvPr/>
        </p:nvSpPr>
        <p:spPr>
          <a:xfrm>
            <a:off x="8433087" y="3661875"/>
            <a:ext cx="249000" cy="249000"/>
          </a:xfrm>
          <a:prstGeom prst="donut">
            <a:avLst>
              <a:gd fmla="val 25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47"/>
          <p:cNvSpPr/>
          <p:nvPr/>
        </p:nvSpPr>
        <p:spPr>
          <a:xfrm rot="5400000">
            <a:off x="4085675" y="-1474312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28" name="Google Shape;328;p47"/>
          <p:cNvSpPr/>
          <p:nvPr/>
        </p:nvSpPr>
        <p:spPr>
          <a:xfrm>
            <a:off x="8433088" y="2857555"/>
            <a:ext cx="249000" cy="248700"/>
          </a:xfrm>
          <a:prstGeom prst="plaque">
            <a:avLst>
              <a:gd fmla="val 449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47"/>
          <p:cNvSpPr/>
          <p:nvPr/>
        </p:nvSpPr>
        <p:spPr>
          <a:xfrm>
            <a:off x="228600" y="4369975"/>
            <a:ext cx="4783800" cy="4773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its</a:t>
            </a:r>
            <a:r>
              <a:rPr b="1" lang="en" sz="1000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discriminative/representational power</a:t>
            </a: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is equal to the power of the Weisfeiler Leman test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30" name="Google Shape;330;p47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Neural Networks (GNNs) are an effective framework for </a:t>
            </a:r>
            <a:r>
              <a:rPr b="1" lang="en"/>
              <a:t>representation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learning</a:t>
            </a:r>
            <a:r>
              <a:rPr lang="en"/>
              <a:t> of graphs.</a:t>
            </a:r>
            <a:endParaRPr/>
          </a:p>
        </p:txBody>
      </p:sp>
      <p:sp>
        <p:nvSpPr>
          <p:cNvPr id="331" name="Google Shape;331;p47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GNNs follow a</a:t>
            </a:r>
            <a:r>
              <a:rPr b="1" lang="en"/>
              <a:t> neighborhood aggregation scheme</a:t>
            </a:r>
            <a:r>
              <a:rPr lang="en"/>
              <a:t>, where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vector of a node is computed by recursively aggregating and trans-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forming representation vectors of its neighboring nodes.</a:t>
            </a:r>
            <a:endParaRPr/>
          </a:p>
        </p:txBody>
      </p:sp>
      <p:sp>
        <p:nvSpPr>
          <p:cNvPr id="332" name="Google Shape;332;p47"/>
          <p:cNvSpPr txBox="1"/>
          <p:nvPr>
            <p:ph idx="7" type="subTitle"/>
          </p:nvPr>
        </p:nvSpPr>
        <p:spPr>
          <a:xfrm>
            <a:off x="228600" y="2891300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MP- </a:t>
            </a:r>
            <a:r>
              <a:rPr lang="en">
                <a:solidFill>
                  <a:schemeClr val="accent1"/>
                </a:solidFill>
              </a:rPr>
              <a:t>GNN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3" name="Google Shape;333;p47"/>
          <p:cNvSpPr txBox="1"/>
          <p:nvPr>
            <p:ph idx="8" type="subTitle"/>
          </p:nvPr>
        </p:nvSpPr>
        <p:spPr>
          <a:xfrm>
            <a:off x="228600" y="369262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GIN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34" name="Google Shape;334;p47" title="Screenshot 2026-01-14 at 01.52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475" y="3421025"/>
            <a:ext cx="6198750" cy="74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7" title="Screenshot 2026-01-14 at 01.55.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900" y="2716888"/>
            <a:ext cx="7343409" cy="53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7"/>
          <p:cNvSpPr txBox="1"/>
          <p:nvPr>
            <p:ph idx="4294967295" type="title"/>
          </p:nvPr>
        </p:nvSpPr>
        <p:spPr>
          <a:xfrm>
            <a:off x="228600" y="228600"/>
            <a:ext cx="66894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Graph Isomorphism Network</a:t>
            </a:r>
            <a:endParaRPr sz="2600"/>
          </a:p>
        </p:txBody>
      </p:sp>
      <p:sp>
        <p:nvSpPr>
          <p:cNvPr id="337" name="Google Shape;337;p47"/>
          <p:cNvSpPr txBox="1"/>
          <p:nvPr>
            <p:ph idx="7" type="subTitle"/>
          </p:nvPr>
        </p:nvSpPr>
        <p:spPr>
          <a:xfrm>
            <a:off x="228600" y="2108663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MP- GNN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8" name="Google Shape;338;p47"/>
          <p:cNvSpPr txBox="1"/>
          <p:nvPr>
            <p:ph idx="7" type="subTitle"/>
          </p:nvPr>
        </p:nvSpPr>
        <p:spPr>
          <a:xfrm>
            <a:off x="228600" y="1316675"/>
            <a:ext cx="5757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MP- GNN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8"/>
          <p:cNvSpPr/>
          <p:nvPr/>
        </p:nvSpPr>
        <p:spPr>
          <a:xfrm rot="5400000">
            <a:off x="4085675" y="-2283925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4" name="Google Shape;344;p48"/>
          <p:cNvGrpSpPr/>
          <p:nvPr/>
        </p:nvGrpSpPr>
        <p:grpSpPr>
          <a:xfrm>
            <a:off x="8303624" y="2057923"/>
            <a:ext cx="507910" cy="230400"/>
            <a:chOff x="8303624" y="2057923"/>
            <a:chExt cx="507910" cy="230400"/>
          </a:xfrm>
        </p:grpSpPr>
        <p:sp>
          <p:nvSpPr>
            <p:cNvPr id="345" name="Google Shape;345;p48"/>
            <p:cNvSpPr/>
            <p:nvPr/>
          </p:nvSpPr>
          <p:spPr>
            <a:xfrm>
              <a:off x="854873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6" name="Google Shape;346;p48"/>
            <p:cNvSpPr/>
            <p:nvPr/>
          </p:nvSpPr>
          <p:spPr>
            <a:xfrm flipH="1">
              <a:off x="830362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47" name="Google Shape;347;p48"/>
          <p:cNvSpPr/>
          <p:nvPr/>
        </p:nvSpPr>
        <p:spPr>
          <a:xfrm rot="5400000">
            <a:off x="4085675" y="-3093400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8" name="Google Shape;348;p48"/>
          <p:cNvGrpSpPr/>
          <p:nvPr/>
        </p:nvGrpSpPr>
        <p:grpSpPr>
          <a:xfrm>
            <a:off x="8444109" y="1249761"/>
            <a:ext cx="227100" cy="214646"/>
            <a:chOff x="8444109" y="1249761"/>
            <a:chExt cx="227100" cy="214646"/>
          </a:xfrm>
        </p:grpSpPr>
        <p:sp>
          <p:nvSpPr>
            <p:cNvPr id="349" name="Google Shape;349;p48"/>
            <p:cNvSpPr/>
            <p:nvPr/>
          </p:nvSpPr>
          <p:spPr>
            <a:xfrm>
              <a:off x="8444109" y="1249761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0" name="Google Shape;350;p48"/>
            <p:cNvSpPr/>
            <p:nvPr/>
          </p:nvSpPr>
          <p:spPr>
            <a:xfrm>
              <a:off x="8444109" y="1367207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51" name="Google Shape;351;p48"/>
          <p:cNvSpPr/>
          <p:nvPr/>
        </p:nvSpPr>
        <p:spPr>
          <a:xfrm rot="5400000">
            <a:off x="4085675" y="-664687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8"/>
          <p:cNvSpPr/>
          <p:nvPr/>
        </p:nvSpPr>
        <p:spPr>
          <a:xfrm>
            <a:off x="8433087" y="3661875"/>
            <a:ext cx="249000" cy="249000"/>
          </a:xfrm>
          <a:prstGeom prst="donut">
            <a:avLst>
              <a:gd fmla="val 25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48"/>
          <p:cNvSpPr/>
          <p:nvPr/>
        </p:nvSpPr>
        <p:spPr>
          <a:xfrm rot="5400000">
            <a:off x="4085675" y="-1474312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54" name="Google Shape;354;p48"/>
          <p:cNvSpPr/>
          <p:nvPr/>
        </p:nvSpPr>
        <p:spPr>
          <a:xfrm>
            <a:off x="8433088" y="2857555"/>
            <a:ext cx="249000" cy="248700"/>
          </a:xfrm>
          <a:prstGeom prst="plaque">
            <a:avLst>
              <a:gd fmla="val 449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48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major issue with arbitrary graphs is the absence of </a:t>
            </a:r>
            <a:r>
              <a:rPr b="1" lang="en"/>
              <a:t>canonical positional information</a:t>
            </a:r>
            <a:r>
              <a:rPr lang="en"/>
              <a:t> of nodes. (pixels in images, words in texts and nodes in graph)</a:t>
            </a:r>
            <a:endParaRPr/>
          </a:p>
        </p:txBody>
      </p:sp>
      <p:sp>
        <p:nvSpPr>
          <p:cNvPr id="356" name="Google Shape;356;p48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positional representation that can be combined with structural GNNs to generate more </a:t>
            </a:r>
            <a:r>
              <a:rPr b="1" lang="en"/>
              <a:t>expressive</a:t>
            </a:r>
            <a:r>
              <a:rPr lang="en"/>
              <a:t> node embedding. Makes nodes more distinguishable. Adds</a:t>
            </a:r>
            <a:r>
              <a:rPr lang="en"/>
              <a:t> </a:t>
            </a:r>
            <a:r>
              <a:rPr lang="en"/>
              <a:t>global structural information.</a:t>
            </a:r>
            <a:endParaRPr/>
          </a:p>
        </p:txBody>
      </p:sp>
      <p:sp>
        <p:nvSpPr>
          <p:cNvPr id="357" name="Google Shape;357;p48"/>
          <p:cNvSpPr txBox="1"/>
          <p:nvPr>
            <p:ph idx="4294967295" type="title"/>
          </p:nvPr>
        </p:nvSpPr>
        <p:spPr>
          <a:xfrm>
            <a:off x="228600" y="228600"/>
            <a:ext cx="84426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Positional Encoding for GNN</a:t>
            </a:r>
            <a:endParaRPr sz="2600"/>
          </a:p>
        </p:txBody>
      </p:sp>
      <p:sp>
        <p:nvSpPr>
          <p:cNvPr id="358" name="Google Shape;358;p48"/>
          <p:cNvSpPr txBox="1"/>
          <p:nvPr>
            <p:ph idx="1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Permutation-invariant</a:t>
            </a:r>
            <a:r>
              <a:rPr lang="en"/>
              <a:t> if you consider each single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Permutation-equivariant </a:t>
            </a:r>
            <a:r>
              <a:rPr lang="en"/>
              <a:t>if you consider an ordered list of nodes</a:t>
            </a:r>
            <a:endParaRPr/>
          </a:p>
        </p:txBody>
      </p:sp>
      <p:sp>
        <p:nvSpPr>
          <p:cNvPr id="359" name="Google Shape;359;p48"/>
          <p:cNvSpPr txBox="1"/>
          <p:nvPr>
            <p:ph idx="1" type="subTitle"/>
          </p:nvPr>
        </p:nvSpPr>
        <p:spPr>
          <a:xfrm>
            <a:off x="927475" y="370947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Distance</a:t>
            </a:r>
            <a:r>
              <a:rPr b="1" lang="en"/>
              <a:t>-sensitive </a:t>
            </a:r>
            <a:r>
              <a:rPr lang="en"/>
              <a:t>the difference between the PEs of two nodes far apart on the graph must be large, and small for two nodes nearby</a:t>
            </a:r>
            <a:endParaRPr/>
          </a:p>
        </p:txBody>
      </p:sp>
      <p:sp>
        <p:nvSpPr>
          <p:cNvPr id="360" name="Google Shape;360;p48"/>
          <p:cNvSpPr/>
          <p:nvPr/>
        </p:nvSpPr>
        <p:spPr>
          <a:xfrm>
            <a:off x="228600" y="4369975"/>
            <a:ext cx="4783800" cy="4773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Laplacian Eigenvectors (Dwivedi et al., 2020; Dwivedi &amp; Bresson, 2021)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/>
          <p:nvPr/>
        </p:nvSpPr>
        <p:spPr>
          <a:xfrm>
            <a:off x="2286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6" name="Google Shape;366;p49"/>
          <p:cNvSpPr/>
          <p:nvPr/>
        </p:nvSpPr>
        <p:spPr>
          <a:xfrm>
            <a:off x="24291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67" name="Google Shape;367;p49"/>
          <p:cNvSpPr/>
          <p:nvPr/>
        </p:nvSpPr>
        <p:spPr>
          <a:xfrm>
            <a:off x="46296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68" name="Google Shape;368;p49"/>
          <p:cNvSpPr/>
          <p:nvPr/>
        </p:nvSpPr>
        <p:spPr>
          <a:xfrm>
            <a:off x="6830100" y="2273913"/>
            <a:ext cx="2085300" cy="523200"/>
          </a:xfrm>
          <a:prstGeom prst="roundRect">
            <a:avLst>
              <a:gd fmla="val 26895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1645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69" name="Google Shape;369;p49"/>
          <p:cNvSpPr/>
          <p:nvPr/>
        </p:nvSpPr>
        <p:spPr>
          <a:xfrm>
            <a:off x="2286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1</a:t>
            </a:r>
            <a:endParaRPr sz="18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0" name="Google Shape;370;p49"/>
          <p:cNvSpPr/>
          <p:nvPr/>
        </p:nvSpPr>
        <p:spPr>
          <a:xfrm>
            <a:off x="24291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2</a:t>
            </a:r>
            <a:endParaRPr sz="18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1" name="Google Shape;371;p49"/>
          <p:cNvSpPr/>
          <p:nvPr/>
        </p:nvSpPr>
        <p:spPr>
          <a:xfrm>
            <a:off x="46296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3</a:t>
            </a:r>
            <a:endParaRPr sz="18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2" name="Google Shape;372;p49"/>
          <p:cNvSpPr/>
          <p:nvPr/>
        </p:nvSpPr>
        <p:spPr>
          <a:xfrm>
            <a:off x="6830100" y="1697238"/>
            <a:ext cx="523200" cy="523200"/>
          </a:xfrm>
          <a:prstGeom prst="roundRect">
            <a:avLst>
              <a:gd fmla="val 2299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4</a:t>
            </a:r>
            <a:endParaRPr sz="1800">
              <a:solidFill>
                <a:schemeClr val="dk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373" name="Google Shape;373;p49"/>
          <p:cNvSpPr txBox="1"/>
          <p:nvPr>
            <p:ph type="title"/>
          </p:nvPr>
        </p:nvSpPr>
        <p:spPr>
          <a:xfrm>
            <a:off x="228600" y="228600"/>
            <a:ext cx="64803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Econding for GNN</a:t>
            </a:r>
            <a:endParaRPr/>
          </a:p>
        </p:txBody>
      </p:sp>
      <p:sp>
        <p:nvSpPr>
          <p:cNvPr id="374" name="Google Shape;374;p49"/>
          <p:cNvSpPr txBox="1"/>
          <p:nvPr>
            <p:ph idx="1" type="body"/>
          </p:nvPr>
        </p:nvSpPr>
        <p:spPr>
          <a:xfrm>
            <a:off x="318600" y="2984575"/>
            <a:ext cx="1914300" cy="14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Learnable Structural and Positional Encodings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Paper: Graph Neural Networks with Learnable Structural and Positional Representations (Dwivedi et al., 2022)</a:t>
            </a:r>
            <a:endParaRPr/>
          </a:p>
        </p:txBody>
      </p:sp>
      <p:sp>
        <p:nvSpPr>
          <p:cNvPr id="375" name="Google Shape;375;p49"/>
          <p:cNvSpPr txBox="1"/>
          <p:nvPr>
            <p:ph idx="2" type="body"/>
          </p:nvPr>
        </p:nvSpPr>
        <p:spPr>
          <a:xfrm>
            <a:off x="6911100" y="2984575"/>
            <a:ext cx="1914300" cy="15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Positional Encodings Augmented with Representation Learning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Paper: Learning Efficient Positional Encodings with Graph Neural Networks (Kanatsoulis et al., 2025)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9"/>
          <p:cNvSpPr txBox="1"/>
          <p:nvPr>
            <p:ph idx="3" type="body"/>
          </p:nvPr>
        </p:nvSpPr>
        <p:spPr>
          <a:xfrm>
            <a:off x="2516100" y="2984575"/>
            <a:ext cx="1914300" cy="15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 / Basis Invariant Sign Invariant Networks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Paper: Sign and Basis Invariant Networks for Spectral Graph Representation Learning (Derek Lim, Joshua Robinson, et al., 2022)</a:t>
            </a:r>
            <a:endParaRPr/>
          </a:p>
        </p:txBody>
      </p:sp>
      <p:sp>
        <p:nvSpPr>
          <p:cNvPr id="377" name="Google Shape;377;p49"/>
          <p:cNvSpPr txBox="1"/>
          <p:nvPr>
            <p:ph idx="4" type="body"/>
          </p:nvPr>
        </p:nvSpPr>
        <p:spPr>
          <a:xfrm>
            <a:off x="4713588" y="2984575"/>
            <a:ext cx="1914300" cy="14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and Expressive Positional Encodings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Paper: On the Stability of Expressive Positional Encodings for Graphs (Huang et al, 2024)</a:t>
            </a:r>
            <a:endParaRPr/>
          </a:p>
        </p:txBody>
      </p:sp>
      <p:sp>
        <p:nvSpPr>
          <p:cNvPr id="378" name="Google Shape;378;p49"/>
          <p:cNvSpPr txBox="1"/>
          <p:nvPr>
            <p:ph idx="5" type="subTitle"/>
          </p:nvPr>
        </p:nvSpPr>
        <p:spPr>
          <a:xfrm>
            <a:off x="381950" y="2411662"/>
            <a:ext cx="18549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LSPE</a:t>
            </a:r>
            <a:endParaRPr/>
          </a:p>
        </p:txBody>
      </p:sp>
      <p:sp>
        <p:nvSpPr>
          <p:cNvPr id="379" name="Google Shape;379;p49"/>
          <p:cNvSpPr txBox="1"/>
          <p:nvPr>
            <p:ph idx="6" type="subTitle"/>
          </p:nvPr>
        </p:nvSpPr>
        <p:spPr>
          <a:xfrm>
            <a:off x="2574000" y="2411662"/>
            <a:ext cx="18549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SignNet / BasisNet</a:t>
            </a:r>
            <a:endParaRPr/>
          </a:p>
        </p:txBody>
      </p:sp>
      <p:sp>
        <p:nvSpPr>
          <p:cNvPr id="380" name="Google Shape;380;p49"/>
          <p:cNvSpPr txBox="1"/>
          <p:nvPr>
            <p:ph idx="7" type="subTitle"/>
          </p:nvPr>
        </p:nvSpPr>
        <p:spPr>
          <a:xfrm>
            <a:off x="4806538" y="2411662"/>
            <a:ext cx="18228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</a:t>
            </a:r>
            <a:endParaRPr/>
          </a:p>
        </p:txBody>
      </p:sp>
      <p:sp>
        <p:nvSpPr>
          <p:cNvPr id="381" name="Google Shape;381;p49"/>
          <p:cNvSpPr txBox="1"/>
          <p:nvPr>
            <p:ph idx="8" type="subTitle"/>
          </p:nvPr>
        </p:nvSpPr>
        <p:spPr>
          <a:xfrm>
            <a:off x="7007100" y="2411662"/>
            <a:ext cx="1822800" cy="3141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PEARL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0"/>
          <p:cNvSpPr txBox="1"/>
          <p:nvPr>
            <p:ph type="title"/>
          </p:nvPr>
        </p:nvSpPr>
        <p:spPr>
          <a:xfrm>
            <a:off x="228600" y="228600"/>
            <a:ext cx="2701200" cy="18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LSPE: decoupling </a:t>
            </a:r>
            <a:r>
              <a:rPr b="1" lang="en" sz="30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position</a:t>
            </a:r>
            <a:r>
              <a:rPr lang="en" sz="3000"/>
              <a:t> and </a:t>
            </a:r>
            <a:r>
              <a:rPr b="1" lang="en" sz="30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</a:t>
            </a:r>
            <a:endParaRPr b="1" sz="3000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7" name="Google Shape;387;p50"/>
          <p:cNvSpPr/>
          <p:nvPr/>
        </p:nvSpPr>
        <p:spPr>
          <a:xfrm>
            <a:off x="79975" y="2461400"/>
            <a:ext cx="8903700" cy="241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88" name="Google Shape;388;p50" title="Screenshot 2026-01-14 at 02.56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51747"/>
            <a:ext cx="8721174" cy="194127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0"/>
          <p:cNvSpPr/>
          <p:nvPr/>
        </p:nvSpPr>
        <p:spPr>
          <a:xfrm>
            <a:off x="152400" y="2751750"/>
            <a:ext cx="2470500" cy="16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50"/>
          <p:cNvSpPr/>
          <p:nvPr/>
        </p:nvSpPr>
        <p:spPr>
          <a:xfrm>
            <a:off x="2963375" y="420850"/>
            <a:ext cx="6045600" cy="192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1" name="Google Shape;391;p50" title="Screenshot 2026-01-14 at 02.53.5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9307" y="493325"/>
            <a:ext cx="5733743" cy="1777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/>
          <p:nvPr/>
        </p:nvSpPr>
        <p:spPr>
          <a:xfrm rot="-5400000">
            <a:off x="5870550" y="1927525"/>
            <a:ext cx="1895700" cy="4060800"/>
          </a:xfrm>
          <a:prstGeom prst="round2SameRect">
            <a:avLst>
              <a:gd fmla="val 10801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7" name="Google Shape;397;p51"/>
          <p:cNvSpPr/>
          <p:nvPr/>
        </p:nvSpPr>
        <p:spPr>
          <a:xfrm rot="5400000">
            <a:off x="1354350" y="1921575"/>
            <a:ext cx="1895700" cy="4107600"/>
          </a:xfrm>
          <a:prstGeom prst="round2SameRect">
            <a:avLst>
              <a:gd fmla="val 10801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398" name="Google Shape;398;p51"/>
          <p:cNvCxnSpPr/>
          <p:nvPr/>
        </p:nvCxnSpPr>
        <p:spPr>
          <a:xfrm>
            <a:off x="4572000" y="912725"/>
            <a:ext cx="0" cy="3999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51"/>
          <p:cNvSpPr txBox="1"/>
          <p:nvPr>
            <p:ph type="title"/>
          </p:nvPr>
        </p:nvSpPr>
        <p:spPr>
          <a:xfrm>
            <a:off x="228300" y="921925"/>
            <a:ext cx="386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Laplacian  Eigenvectors PE</a:t>
            </a:r>
            <a:endParaRPr/>
          </a:p>
        </p:txBody>
      </p:sp>
      <p:sp>
        <p:nvSpPr>
          <p:cNvPr id="400" name="Google Shape;400;p51"/>
          <p:cNvSpPr txBox="1"/>
          <p:nvPr>
            <p:ph idx="2" type="title"/>
          </p:nvPr>
        </p:nvSpPr>
        <p:spPr>
          <a:xfrm>
            <a:off x="4788000" y="863625"/>
            <a:ext cx="4030800" cy="33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Walk PE</a:t>
            </a:r>
            <a:endParaRPr/>
          </a:p>
        </p:txBody>
      </p:sp>
      <p:sp>
        <p:nvSpPr>
          <p:cNvPr id="401" name="Google Shape;401;p51"/>
          <p:cNvSpPr/>
          <p:nvPr/>
        </p:nvSpPr>
        <p:spPr>
          <a:xfrm>
            <a:off x="228600" y="229900"/>
            <a:ext cx="1773300" cy="2772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Positional Encoding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02" name="Google Shape;402;p51"/>
          <p:cNvSpPr txBox="1"/>
          <p:nvPr/>
        </p:nvSpPr>
        <p:spPr>
          <a:xfrm>
            <a:off x="228600" y="1345400"/>
            <a:ext cx="413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ign ambiguity as eigenvectors are defined up to ±1. This leads to 2</a:t>
            </a:r>
            <a:r>
              <a:rPr baseline="30000"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number of possible sign values when selecting k number of eigenvectors. </a:t>
            </a:r>
            <a:r>
              <a:rPr lang="en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sign-invariance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If an eigenvalue has an algebraic multiplicity greater than one, its corresponding eigenspace can have a dimension greater than one, which means you can choose different sets of linearly independent eigenvectors (bases) for that same eigenvalue. </a:t>
            </a:r>
            <a:r>
              <a:rPr lang="en" sz="10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No basis-invariance</a:t>
            </a:r>
            <a:endParaRPr sz="10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3" name="Google Shape;403;p51"/>
          <p:cNvSpPr txBox="1"/>
          <p:nvPr/>
        </p:nvSpPr>
        <p:spPr>
          <a:xfrm>
            <a:off x="4781100" y="1345400"/>
            <a:ext cx="4134300" cy="17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Diffusion process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RWPE provide a unique node representation under the condition that each node has a unique k-hop topological neighborhood for a sufficient large k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Iterating the random walk operator for a suitable number of steps allows coloring non-isomorphic nodes, thus distinguishing several cases of non-isomorphic graphs on which the 1-WL test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04" name="Google Shape;404;p51" title="Screenshot 2026-01-15 at 02.36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775" y="3069850"/>
            <a:ext cx="3396523" cy="3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1" title="Screenshot 2026-01-15 at 02.41.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0050" y="3123375"/>
            <a:ext cx="3866699" cy="301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51"/>
          <p:cNvSpPr txBox="1"/>
          <p:nvPr/>
        </p:nvSpPr>
        <p:spPr>
          <a:xfrm>
            <a:off x="484375" y="3447925"/>
            <a:ext cx="34992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L = I</a:t>
            </a:r>
            <a:r>
              <a:rPr baseline="-25000"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−D</a:t>
            </a:r>
            <a:r>
              <a:rPr baseline="30000"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−1/2</a:t>
            </a: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AD</a:t>
            </a:r>
            <a:r>
              <a:rPr baseline="30000"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−1/2</a:t>
            </a: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 = U</a:t>
            </a:r>
            <a:r>
              <a:rPr baseline="30000"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ΛU</a:t>
            </a:r>
            <a:endParaRPr sz="15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Spectral decomposition of the normalized laplacian</a:t>
            </a:r>
            <a:endParaRPr sz="10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Laplacian eigenvectors of a graph capture clusters,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subgraph frequencies, connectivity, and many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other useful properties.</a:t>
            </a:r>
            <a:endParaRPr sz="10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51"/>
          <p:cNvSpPr txBox="1"/>
          <p:nvPr/>
        </p:nvSpPr>
        <p:spPr>
          <a:xfrm>
            <a:off x="5053800" y="3447925"/>
            <a:ext cx="34992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RW= AD</a:t>
            </a:r>
            <a:r>
              <a:rPr baseline="30000"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-1</a:t>
            </a:r>
            <a:endParaRPr baseline="30000" sz="15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A: </a:t>
            </a: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adjacency</a:t>
            </a: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 matrix</a:t>
            </a:r>
            <a:endParaRPr sz="15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D: degree matrix</a:t>
            </a:r>
            <a:endParaRPr sz="15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51"/>
          <p:cNvSpPr/>
          <p:nvPr/>
        </p:nvSpPr>
        <p:spPr>
          <a:xfrm>
            <a:off x="351150" y="4369975"/>
            <a:ext cx="3948900" cy="4353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Laplacian Eigenvectors (Dwivedi et al., 2020; Dwivedi &amp; Bresson, 2021)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09" name="Google Shape;409;p51"/>
          <p:cNvSpPr/>
          <p:nvPr/>
        </p:nvSpPr>
        <p:spPr>
          <a:xfrm>
            <a:off x="4843950" y="4369975"/>
            <a:ext cx="3948900" cy="4353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Graph Neural Networks with Learnable Structural and Positional Representations (Dwivedi et al., 2022)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"/>
          <p:cNvSpPr/>
          <p:nvPr/>
        </p:nvSpPr>
        <p:spPr>
          <a:xfrm rot="5400000">
            <a:off x="1579950" y="2146925"/>
            <a:ext cx="1500900" cy="4051200"/>
          </a:xfrm>
          <a:prstGeom prst="round2SameRect">
            <a:avLst>
              <a:gd fmla="val 10801" name="adj1"/>
              <a:gd fmla="val 368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415" name="Google Shape;415;p52"/>
          <p:cNvCxnSpPr/>
          <p:nvPr/>
        </p:nvCxnSpPr>
        <p:spPr>
          <a:xfrm>
            <a:off x="4572000" y="912725"/>
            <a:ext cx="0" cy="3999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52"/>
          <p:cNvSpPr txBox="1"/>
          <p:nvPr>
            <p:ph type="title"/>
          </p:nvPr>
        </p:nvSpPr>
        <p:spPr>
          <a:xfrm>
            <a:off x="228300" y="921925"/>
            <a:ext cx="386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SignNet PE</a:t>
            </a:r>
            <a:endParaRPr/>
          </a:p>
        </p:txBody>
      </p:sp>
      <p:sp>
        <p:nvSpPr>
          <p:cNvPr id="417" name="Google Shape;417;p52"/>
          <p:cNvSpPr txBox="1"/>
          <p:nvPr>
            <p:ph idx="2" type="title"/>
          </p:nvPr>
        </p:nvSpPr>
        <p:spPr>
          <a:xfrm>
            <a:off x="4788000" y="863625"/>
            <a:ext cx="4030800" cy="33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BasisNet PE</a:t>
            </a:r>
            <a:endParaRPr/>
          </a:p>
        </p:txBody>
      </p:sp>
      <p:sp>
        <p:nvSpPr>
          <p:cNvPr id="418" name="Google Shape;418;p52"/>
          <p:cNvSpPr/>
          <p:nvPr/>
        </p:nvSpPr>
        <p:spPr>
          <a:xfrm>
            <a:off x="228600" y="229900"/>
            <a:ext cx="1773300" cy="2772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Positional Encoding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19" name="Google Shape;419;p52"/>
          <p:cNvSpPr txBox="1"/>
          <p:nvPr/>
        </p:nvSpPr>
        <p:spPr>
          <a:xfrm>
            <a:off x="228600" y="1345400"/>
            <a:ext cx="413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Sign invariance is a special case of basis invariance when all eigenvalues are distinct.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f(v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…, 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) = f(s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…, s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i 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∈{−1,1}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For one subspace, a sign invariant function is merely an even function: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h(v) = φ(v) + φ(−v)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52"/>
          <p:cNvSpPr txBox="1"/>
          <p:nvPr/>
        </p:nvSpPr>
        <p:spPr>
          <a:xfrm>
            <a:off x="4781100" y="1345400"/>
            <a:ext cx="41343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64% of molecule graphs in the ZINC dataset have a higher dimensional eigenspace.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 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..., 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be bases of eigenspaces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…, 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any other bases for some Q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…, Q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 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Q∈O(d)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f(V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..., 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) = f(V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..., V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aseline="-25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Any continuous O(d) invariant h is of the form: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h(V) = φ(VV</a:t>
            </a:r>
            <a:r>
              <a:rPr baseline="30000"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⊤</a:t>
            </a: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52"/>
          <p:cNvSpPr/>
          <p:nvPr/>
        </p:nvSpPr>
        <p:spPr>
          <a:xfrm rot="-5400000">
            <a:off x="6415200" y="2425225"/>
            <a:ext cx="806400" cy="4060800"/>
          </a:xfrm>
          <a:prstGeom prst="round2SameRect">
            <a:avLst>
              <a:gd fmla="val 10801" name="adj1"/>
              <a:gd fmla="val 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2" name="Google Shape;422;p52"/>
          <p:cNvSpPr txBox="1"/>
          <p:nvPr/>
        </p:nvSpPr>
        <p:spPr>
          <a:xfrm>
            <a:off x="484375" y="3447925"/>
            <a:ext cx="34992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f(v</a:t>
            </a:r>
            <a:r>
              <a:rPr baseline="-25000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..., v</a:t>
            </a:r>
            <a:r>
              <a:rPr baseline="-25000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λ</a:t>
            </a:r>
            <a:r>
              <a:rPr baseline="-25000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..., λ</a:t>
            </a:r>
            <a:r>
              <a:rPr baseline="-25000"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X) = 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52"/>
          <p:cNvSpPr/>
          <p:nvPr/>
        </p:nvSpPr>
        <p:spPr>
          <a:xfrm>
            <a:off x="351150" y="4369975"/>
            <a:ext cx="3948900" cy="6231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Sign and Basis Invariant Networks for Spectral Graph Representation Learning (Derek Lim, Joshua Robinson, et al., 2022)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424" name="Google Shape;424;p52" title="Screenshot 2026-01-16 at 04.18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75" y="3885625"/>
            <a:ext cx="3366375" cy="38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2" title="Screenshot 2026-01-16 at 04.19.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3508" y="4094438"/>
            <a:ext cx="3187392" cy="38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2"/>
          <p:cNvSpPr txBox="1"/>
          <p:nvPr/>
        </p:nvSpPr>
        <p:spPr>
          <a:xfrm>
            <a:off x="5003500" y="4474525"/>
            <a:ext cx="3423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Using invariant graph network as </a:t>
            </a:r>
            <a:r>
              <a:rPr lang="en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ɸ</a:t>
            </a:r>
            <a:r>
              <a:rPr lang="en" sz="11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>
            <p:ph type="title"/>
          </p:nvPr>
        </p:nvSpPr>
        <p:spPr>
          <a:xfrm>
            <a:off x="43125" y="228600"/>
            <a:ext cx="4924500" cy="46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SignNet/BasisNet</a:t>
            </a:r>
            <a:endParaRPr sz="2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AutoNum type="arabicPeriod"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 Laplacian eigenvectors V</a:t>
            </a:r>
            <a:endParaRPr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 = I</a:t>
            </a:r>
            <a:r>
              <a:rPr b="1" baseline="-25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−D</a:t>
            </a:r>
            <a:r>
              <a:rPr b="1"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−1/2</a:t>
            </a: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</a:t>
            </a:r>
            <a:r>
              <a:rPr b="1"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−1/2</a:t>
            </a: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= U</a:t>
            </a:r>
            <a:r>
              <a:rPr b="1"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</a:t>
            </a: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ΛU</a:t>
            </a:r>
            <a:endParaRPr b="1" sz="1800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AutoNum type="arabicPeriod"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Process through SignNet/BasisNet</a:t>
            </a:r>
            <a:endParaRPr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PE = SignNet(U) or BasisNet(U)</a:t>
            </a:r>
            <a:endParaRPr b="1" sz="18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AutoNum type="arabicPeriod"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Concatenate with node features</a:t>
            </a:r>
            <a:endParaRPr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X_augmented = [X, PE]</a:t>
            </a:r>
            <a:endParaRPr b="1" sz="18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AutoNum type="arabicPeriod"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 to base GNN</a:t>
            </a:r>
            <a:endParaRPr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3"/>
          <p:cNvSpPr txBox="1"/>
          <p:nvPr>
            <p:ph idx="4294967295" type="subTitle"/>
          </p:nvPr>
        </p:nvSpPr>
        <p:spPr>
          <a:xfrm>
            <a:off x="4967800" y="228600"/>
            <a:ext cx="3780600" cy="45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4"/>
                </a:solidFill>
              </a:rPr>
              <a:t>Expressive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Provably approximates many existing PE methods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Captures clusters, subgraph frequencies, connectivity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4"/>
                </a:solidFill>
              </a:rPr>
              <a:t>Not Stable</a:t>
            </a:r>
            <a:endParaRPr sz="14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Hard partitioning of eigenspaces: each eigenspace is an independent silos (independent network)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Small perturbations in Laplacian → large PE changes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Discontinuous at degeneracy points (when eigenvalues are close)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Stability proven to be crucial for </a:t>
            </a:r>
            <a:r>
              <a:rPr b="1" lang="en" sz="1400">
                <a:solidFill>
                  <a:schemeClr val="accent2"/>
                </a:solidFill>
              </a:rPr>
              <a:t>Generalization</a:t>
            </a:r>
            <a:endParaRPr b="1" sz="1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4"/>
          <p:cNvSpPr/>
          <p:nvPr/>
        </p:nvSpPr>
        <p:spPr>
          <a:xfrm rot="5400000">
            <a:off x="4085675" y="-2283925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54"/>
          <p:cNvGrpSpPr/>
          <p:nvPr/>
        </p:nvGrpSpPr>
        <p:grpSpPr>
          <a:xfrm>
            <a:off x="8303624" y="2057923"/>
            <a:ext cx="507910" cy="230400"/>
            <a:chOff x="8303624" y="2057923"/>
            <a:chExt cx="507910" cy="230400"/>
          </a:xfrm>
        </p:grpSpPr>
        <p:sp>
          <p:nvSpPr>
            <p:cNvPr id="439" name="Google Shape;439;p54"/>
            <p:cNvSpPr/>
            <p:nvPr/>
          </p:nvSpPr>
          <p:spPr>
            <a:xfrm>
              <a:off x="854873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0" name="Google Shape;440;p54"/>
            <p:cNvSpPr/>
            <p:nvPr/>
          </p:nvSpPr>
          <p:spPr>
            <a:xfrm flipH="1">
              <a:off x="8303624" y="2057923"/>
              <a:ext cx="262800" cy="230400"/>
            </a:xfrm>
            <a:prstGeom prst="pie">
              <a:avLst>
                <a:gd fmla="val 5410573" name="adj1"/>
                <a:gd fmla="val 1620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1" name="Google Shape;441;p54"/>
          <p:cNvSpPr/>
          <p:nvPr/>
        </p:nvSpPr>
        <p:spPr>
          <a:xfrm rot="5400000">
            <a:off x="4085675" y="-3093400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54"/>
          <p:cNvGrpSpPr/>
          <p:nvPr/>
        </p:nvGrpSpPr>
        <p:grpSpPr>
          <a:xfrm>
            <a:off x="8444109" y="1249761"/>
            <a:ext cx="227100" cy="214646"/>
            <a:chOff x="8444109" y="1249761"/>
            <a:chExt cx="227100" cy="214646"/>
          </a:xfrm>
        </p:grpSpPr>
        <p:sp>
          <p:nvSpPr>
            <p:cNvPr id="443" name="Google Shape;443;p54"/>
            <p:cNvSpPr/>
            <p:nvPr/>
          </p:nvSpPr>
          <p:spPr>
            <a:xfrm>
              <a:off x="8444109" y="1249761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44" name="Google Shape;444;p54"/>
            <p:cNvSpPr/>
            <p:nvPr/>
          </p:nvSpPr>
          <p:spPr>
            <a:xfrm>
              <a:off x="8444109" y="1367207"/>
              <a:ext cx="227100" cy="97200"/>
            </a:xfrm>
            <a:prstGeom prst="roundRect">
              <a:avLst>
                <a:gd fmla="val 50000" name="adj"/>
              </a:avLst>
            </a:prstGeom>
            <a:noFill/>
            <a:ln cap="flat" cmpd="sng" w="2857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5" name="Google Shape;445;p54"/>
          <p:cNvSpPr/>
          <p:nvPr/>
        </p:nvSpPr>
        <p:spPr>
          <a:xfrm rot="5400000">
            <a:off x="4085675" y="-664687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4"/>
          <p:cNvSpPr/>
          <p:nvPr/>
        </p:nvSpPr>
        <p:spPr>
          <a:xfrm>
            <a:off x="8433087" y="3661875"/>
            <a:ext cx="249000" cy="249000"/>
          </a:xfrm>
          <a:prstGeom prst="donut">
            <a:avLst>
              <a:gd fmla="val 25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54"/>
          <p:cNvSpPr/>
          <p:nvPr/>
        </p:nvSpPr>
        <p:spPr>
          <a:xfrm rot="5400000">
            <a:off x="4085675" y="-1474312"/>
            <a:ext cx="741000" cy="8912400"/>
          </a:xfrm>
          <a:prstGeom prst="round2SameRect">
            <a:avLst>
              <a:gd fmla="val 27582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48" name="Google Shape;448;p54"/>
          <p:cNvSpPr/>
          <p:nvPr/>
        </p:nvSpPr>
        <p:spPr>
          <a:xfrm>
            <a:off x="8433088" y="2857555"/>
            <a:ext cx="249000" cy="248700"/>
          </a:xfrm>
          <a:prstGeom prst="plaque">
            <a:avLst>
              <a:gd fmla="val 449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54"/>
          <p:cNvSpPr txBox="1"/>
          <p:nvPr>
            <p:ph idx="1" type="subTitle"/>
          </p:nvPr>
        </p:nvSpPr>
        <p:spPr>
          <a:xfrm>
            <a:off x="927475" y="12697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 and learnable “partition” of </a:t>
            </a:r>
            <a:r>
              <a:rPr lang="en"/>
              <a:t>eigen subspaces</a:t>
            </a:r>
            <a:r>
              <a:rPr lang="en"/>
              <a:t> in a </a:t>
            </a:r>
            <a:r>
              <a:rPr b="1" lang="en"/>
              <a:t>eigenvalue dependent</a:t>
            </a:r>
            <a:r>
              <a:rPr lang="en"/>
              <a:t> way. Instead of treating each </a:t>
            </a:r>
            <a:r>
              <a:rPr lang="en"/>
              <a:t>eigen subspace</a:t>
            </a:r>
            <a:r>
              <a:rPr lang="en"/>
              <a:t> independently, we apply a weighted sum of eigenvectors in an eigenvalue-dependent way.</a:t>
            </a:r>
            <a:endParaRPr/>
          </a:p>
        </p:txBody>
      </p:sp>
      <p:sp>
        <p:nvSpPr>
          <p:cNvPr id="450" name="Google Shape;450;p54"/>
          <p:cNvSpPr txBox="1"/>
          <p:nvPr>
            <p:ph idx="2" type="subTitle"/>
          </p:nvPr>
        </p:nvSpPr>
        <p:spPr>
          <a:xfrm>
            <a:off x="927475" y="207312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SPE(V, λ) = ρ(V diag(φ₁(λ)) V</a:t>
            </a:r>
            <a:r>
              <a:rPr baseline="30000" lang="en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, ..., V diag(φₘ(λ)) V</a:t>
            </a:r>
            <a:r>
              <a:rPr baseline="30000" lang="en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" sz="18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</p:txBody>
      </p:sp>
      <p:sp>
        <p:nvSpPr>
          <p:cNvPr id="451" name="Google Shape;451;p54"/>
          <p:cNvSpPr txBox="1"/>
          <p:nvPr>
            <p:ph idx="4294967295" type="title"/>
          </p:nvPr>
        </p:nvSpPr>
        <p:spPr>
          <a:xfrm>
            <a:off x="228600" y="228600"/>
            <a:ext cx="84426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SPE: </a:t>
            </a:r>
            <a:r>
              <a:rPr lang="en" sz="2600">
                <a:solidFill>
                  <a:schemeClr val="accent3"/>
                </a:solidFill>
              </a:rPr>
              <a:t>Stable</a:t>
            </a:r>
            <a:r>
              <a:rPr lang="en" sz="2600"/>
              <a:t> &amp; </a:t>
            </a:r>
            <a:r>
              <a:rPr lang="en" sz="2600">
                <a:solidFill>
                  <a:schemeClr val="accent3"/>
                </a:solidFill>
              </a:rPr>
              <a:t>Expressive</a:t>
            </a:r>
            <a:r>
              <a:rPr lang="en" sz="2600"/>
              <a:t> Positional Encodings</a:t>
            </a:r>
            <a:endParaRPr sz="2600"/>
          </a:p>
        </p:txBody>
      </p:sp>
      <p:sp>
        <p:nvSpPr>
          <p:cNvPr id="452" name="Google Shape;452;p54"/>
          <p:cNvSpPr txBox="1"/>
          <p:nvPr>
            <p:ph idx="1" type="subTitle"/>
          </p:nvPr>
        </p:nvSpPr>
        <p:spPr>
          <a:xfrm>
            <a:off x="927475" y="2891300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Universally approximates basis-invariant functions.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Trade-off: High Stability ⟺ Lower Expressiveness</a:t>
            </a:r>
            <a:endParaRPr/>
          </a:p>
        </p:txBody>
      </p:sp>
      <p:sp>
        <p:nvSpPr>
          <p:cNvPr id="453" name="Google Shape;453;p54"/>
          <p:cNvSpPr txBox="1"/>
          <p:nvPr>
            <p:ph idx="1" type="subTitle"/>
          </p:nvPr>
        </p:nvSpPr>
        <p:spPr>
          <a:xfrm>
            <a:off x="927475" y="3709475"/>
            <a:ext cx="6046200" cy="181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Better Generalization </a:t>
            </a:r>
            <a:r>
              <a:rPr lang="en"/>
              <a:t>for instance reducing the generalization gap between MAE train - MAE test in our ZINC dataset</a:t>
            </a:r>
            <a:endParaRPr/>
          </a:p>
        </p:txBody>
      </p:sp>
      <p:sp>
        <p:nvSpPr>
          <p:cNvPr id="454" name="Google Shape;454;p54"/>
          <p:cNvSpPr/>
          <p:nvPr/>
        </p:nvSpPr>
        <p:spPr>
          <a:xfrm>
            <a:off x="228600" y="4369975"/>
            <a:ext cx="4783800" cy="4773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On the Stability of Expressive Positional Encodings for Graphs (Huang et al, 2024)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/>
          <p:nvPr>
            <p:ph type="title"/>
          </p:nvPr>
        </p:nvSpPr>
        <p:spPr>
          <a:xfrm>
            <a:off x="228600" y="228600"/>
            <a:ext cx="86868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PEARL: Positional Encodings Augmented with </a:t>
            </a:r>
            <a:r>
              <a:rPr lang="en" sz="3000">
                <a:solidFill>
                  <a:schemeClr val="accent3"/>
                </a:solidFill>
              </a:rPr>
              <a:t>Representation Learning</a:t>
            </a:r>
            <a:endParaRPr sz="3000">
              <a:solidFill>
                <a:schemeClr val="accent3"/>
              </a:solidFill>
            </a:endParaRPr>
          </a:p>
        </p:txBody>
      </p:sp>
      <p:grpSp>
        <p:nvGrpSpPr>
          <p:cNvPr id="460" name="Google Shape;460;p55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461" name="Google Shape;461;p55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462" name="Google Shape;462;p55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463" name="Google Shape;463;p55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464" name="Google Shape;464;p55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sp>
        <p:nvSpPr>
          <p:cNvPr id="465" name="Google Shape;465;p55"/>
          <p:cNvSpPr txBox="1"/>
          <p:nvPr>
            <p:ph idx="1" type="subTitle"/>
          </p:nvPr>
        </p:nvSpPr>
        <p:spPr>
          <a:xfrm>
            <a:off x="228600" y="1339925"/>
            <a:ext cx="4252500" cy="35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GSO</a:t>
            </a:r>
            <a:r>
              <a:rPr lang="en" sz="1400"/>
              <a:t> graph shift operator:  the adjacency matrix, the Laplacian matrix, their normalized variants, or the RW transition. </a:t>
            </a:r>
            <a:r>
              <a:rPr i="1" lang="en" sz="1400"/>
              <a:t>typically sparse</a:t>
            </a:r>
            <a:endParaRPr i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/>
              <a:t>Full eigenvector approaches </a:t>
            </a:r>
            <a:r>
              <a:rPr lang="en" sz="1400">
                <a:solidFill>
                  <a:schemeClr val="lt1"/>
                </a:solidFill>
              </a:rPr>
              <a:t>COMPUTE </a:t>
            </a:r>
            <a:r>
              <a:rPr lang="en" sz="1400"/>
              <a:t> eigenvectors of some GSO: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Computational complexity: O(N³)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Memory intensive for large graphs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Don’t COMPUTE but…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 </a:t>
            </a:r>
            <a:r>
              <a:rPr b="1" lang="en" sz="1600">
                <a:solidFill>
                  <a:schemeClr val="accent3"/>
                </a:solidFill>
              </a:rPr>
              <a:t>LEARN</a:t>
            </a:r>
            <a:r>
              <a:rPr lang="en" sz="1400">
                <a:solidFill>
                  <a:schemeClr val="lt1"/>
                </a:solidFill>
              </a:rPr>
              <a:t> a nonlinear function of GSO eigenvectors.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66" name="Google Shape;466;p55"/>
          <p:cNvSpPr txBox="1"/>
          <p:nvPr>
            <p:ph idx="1" type="subTitle"/>
          </p:nvPr>
        </p:nvSpPr>
        <p:spPr>
          <a:xfrm>
            <a:off x="4767900" y="1339950"/>
            <a:ext cx="4252500" cy="35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2"/>
                </a:solidFill>
              </a:rPr>
              <a:t>Scalability </a:t>
            </a:r>
            <a:r>
              <a:rPr lang="en" sz="1400">
                <a:solidFill>
                  <a:schemeClr val="lt1"/>
                </a:solidFill>
              </a:rPr>
              <a:t>Computational complexity: O(N</a:t>
            </a:r>
            <a:r>
              <a:rPr baseline="30000" lang="en" sz="1400">
                <a:solidFill>
                  <a:schemeClr val="lt1"/>
                </a:solidFill>
              </a:rPr>
              <a:t>2</a:t>
            </a:r>
            <a:r>
              <a:rPr lang="en" sz="1400">
                <a:solidFill>
                  <a:schemeClr val="lt1"/>
                </a:solidFill>
              </a:rPr>
              <a:t>) / O(N)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2"/>
                </a:solidFill>
              </a:rPr>
              <a:t>Expressivity</a:t>
            </a:r>
            <a:r>
              <a:rPr lang="en" sz="1400">
                <a:solidFill>
                  <a:schemeClr val="lt1"/>
                </a:solidFill>
              </a:rPr>
              <a:t> of Full Eigenvector Approaches: strictly more powerful than the 1-FWL test. It count the number of 3-, 4-, 5-, 6-, and 7-node cycles in which each node participates, for any given graph.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2"/>
                </a:solidFill>
              </a:rPr>
              <a:t>Stability</a:t>
            </a:r>
            <a:r>
              <a:rPr lang="en" sz="1400">
                <a:solidFill>
                  <a:schemeClr val="lt1"/>
                </a:solidFill>
              </a:rPr>
              <a:t> comes for free: we don’t need soft partitioning tricks – like in SPE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achieving up to a </a:t>
            </a:r>
            <a:r>
              <a:rPr lang="en" sz="1400">
                <a:solidFill>
                  <a:schemeClr val="accent3"/>
                </a:solidFill>
              </a:rPr>
              <a:t>6%</a:t>
            </a:r>
            <a:r>
              <a:rPr lang="en" sz="1400">
                <a:solidFill>
                  <a:schemeClr val="lt1"/>
                </a:solidFill>
              </a:rPr>
              <a:t> improvement on graph classification tasks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467" name="Google Shape;467;p55"/>
          <p:cNvCxnSpPr/>
          <p:nvPr/>
        </p:nvCxnSpPr>
        <p:spPr>
          <a:xfrm flipH="1">
            <a:off x="4572100" y="1339925"/>
            <a:ext cx="1800" cy="3572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55"/>
          <p:cNvSpPr/>
          <p:nvPr/>
        </p:nvSpPr>
        <p:spPr>
          <a:xfrm>
            <a:off x="380400" y="4317575"/>
            <a:ext cx="3948900" cy="6231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</a:t>
            </a:r>
            <a:r>
              <a:rPr lang="en" sz="1000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Efficient Positional Encodings with Graph Neural Networks (Kanatsoulis et al., 2025)</a:t>
            </a:r>
            <a:endParaRPr sz="1000"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6"/>
          <p:cNvSpPr txBox="1"/>
          <p:nvPr>
            <p:ph type="title"/>
          </p:nvPr>
        </p:nvSpPr>
        <p:spPr>
          <a:xfrm>
            <a:off x="228600" y="228600"/>
            <a:ext cx="2701200" cy="23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Plus Jakarta Sans"/>
                <a:ea typeface="Plus Jakarta Sans"/>
                <a:cs typeface="Plus Jakarta Sans"/>
                <a:sym typeface="Plus Jakarta Sans"/>
              </a:rPr>
              <a:t>PEARL</a:t>
            </a:r>
            <a:r>
              <a:rPr lang="en" sz="2500"/>
              <a:t>: Positional Encodings Augmented with </a:t>
            </a:r>
            <a:r>
              <a:rPr b="1" lang="en" sz="25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Representation Learning</a:t>
            </a:r>
            <a:endParaRPr b="1" sz="2500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474" name="Google Shape;474;p56"/>
          <p:cNvSpPr/>
          <p:nvPr/>
        </p:nvSpPr>
        <p:spPr>
          <a:xfrm>
            <a:off x="79975" y="2461400"/>
            <a:ext cx="8903700" cy="2411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Google Shape;475;p56"/>
          <p:cNvSpPr/>
          <p:nvPr/>
        </p:nvSpPr>
        <p:spPr>
          <a:xfrm>
            <a:off x="152400" y="2751750"/>
            <a:ext cx="2470500" cy="168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Google Shape;476;p56"/>
          <p:cNvSpPr/>
          <p:nvPr/>
        </p:nvSpPr>
        <p:spPr>
          <a:xfrm>
            <a:off x="2963375" y="420850"/>
            <a:ext cx="6045600" cy="1922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56"/>
          <p:cNvSpPr txBox="1"/>
          <p:nvPr/>
        </p:nvSpPr>
        <p:spPr>
          <a:xfrm>
            <a:off x="3050200" y="471975"/>
            <a:ext cx="5818200" cy="18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GNN operates as a nonlinear function of the GSO eigenvectors:</a:t>
            </a:r>
            <a:endParaRPr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AGGREGATE</a:t>
            </a:r>
            <a:r>
              <a:rPr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f({x</a:t>
            </a:r>
            <a:r>
              <a:rPr b="1" baseline="-25000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})</a:t>
            </a:r>
            <a:r>
              <a:rPr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 represents the adjacency matrix, the Laplacian matrix, the normalized adjacency, the normalized Laplacian, and the Random Walk matrix.</a:t>
            </a:r>
            <a:endParaRPr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56"/>
          <p:cNvSpPr txBox="1"/>
          <p:nvPr/>
        </p:nvSpPr>
        <p:spPr>
          <a:xfrm>
            <a:off x="79975" y="2461400"/>
            <a:ext cx="88767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X</a:t>
            </a:r>
            <a:r>
              <a:rPr baseline="30000"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(l)</a:t>
            </a:r>
            <a:r>
              <a:rPr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=g</a:t>
            </a:r>
            <a:r>
              <a:rPr baseline="30000"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(l-1)</a:t>
            </a:r>
            <a:r>
              <a:rPr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(X</a:t>
            </a:r>
            <a:r>
              <a:rPr baseline="30000"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(l-1)</a:t>
            </a:r>
            <a:r>
              <a:rPr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,SX</a:t>
            </a:r>
            <a:r>
              <a:rPr baseline="30000"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(l-1)</a:t>
            </a:r>
            <a:r>
              <a:rPr lang="en" sz="19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 : </a:t>
            </a:r>
            <a:r>
              <a:rPr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signals of all vertices at layer l</a:t>
            </a:r>
            <a:endParaRPr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COMBINE </a:t>
            </a: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g(x</a:t>
            </a:r>
            <a:r>
              <a:rPr b="1" baseline="-25000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,f({x</a:t>
            </a:r>
            <a:r>
              <a:rPr b="1" baseline="-25000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b="1"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}))</a:t>
            </a:r>
            <a:r>
              <a:rPr lang="en" sz="11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an equivariant </a:t>
            </a:r>
            <a:r>
              <a:rPr b="1"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MLP</a:t>
            </a:r>
            <a:r>
              <a:rPr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 operating on each node independently</a:t>
            </a:r>
            <a:endParaRPr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baseline="-25000"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: trainable parameter of MLP. Higher values of K can be considered for </a:t>
            </a:r>
            <a:r>
              <a:rPr b="1"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more generalized GNN layers</a:t>
            </a:r>
            <a:endParaRPr b="1"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The filter (allowing k &gt; 2) is applied only once. After that, each GINLayer implicitly applies a k=2 polynomial structure (combining self and 1-hop neighbor features), though using adjacency-based aggregation as GSO in the</a:t>
            </a:r>
            <a:endParaRPr b="1"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recursive message-passing operations</a:t>
            </a:r>
            <a:endParaRPr b="1"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79" name="Google Shape;479;p56" title="Screenshot From 2026-01-17 07-47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2850" y="1454550"/>
            <a:ext cx="5992898" cy="47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0" y="807525"/>
            <a:ext cx="4118804" cy="47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56" title="Screenshot From 2026-01-17 08-20-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6400" y="2537400"/>
            <a:ext cx="3130750" cy="90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6" title="Screenshot From 2026-01-17 08-43-4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0" y="4367100"/>
            <a:ext cx="2701200" cy="396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/>
          <p:nvPr>
            <p:ph type="title"/>
          </p:nvPr>
        </p:nvSpPr>
        <p:spPr>
          <a:xfrm>
            <a:off x="43125" y="228600"/>
            <a:ext cx="4528800" cy="4792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PEARL</a:t>
            </a:r>
            <a:endParaRPr sz="24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Choice of node attributes</a:t>
            </a:r>
            <a:endParaRPr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Expressiveness</a:t>
            </a:r>
            <a:endParaRPr b="1" sz="1800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lus Jakarta Sans"/>
              <a:buChar char="●"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Initializing each node with a set of M </a:t>
            </a:r>
            <a:r>
              <a:rPr b="1"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unique identifiers 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{q</a:t>
            </a:r>
            <a:r>
              <a:rPr baseline="-25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(1)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…, 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baseline="-25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}</a:t>
            </a:r>
            <a:endParaRPr sz="1800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lus Jakarta Sans"/>
              <a:buChar char="●"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 of M </a:t>
            </a:r>
            <a:r>
              <a:rPr b="1"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independent</a:t>
            </a: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initial node attributes 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{</a:t>
            </a: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}</a:t>
            </a: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 ∈ [1,M], </a:t>
            </a:r>
            <a:r>
              <a:rPr b="1"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baseline="30000"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</a:t>
            </a: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∈ R</a:t>
            </a:r>
            <a:r>
              <a:rPr baseline="30000"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endParaRPr baseline="30000"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aseline="30000"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Plus Jakarta Sans"/>
              <a:buChar char="●"/>
            </a:pP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Each G, </a:t>
            </a:r>
            <a:r>
              <a:rPr b="1"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lang="en" sz="1800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(m) is independently processed via a mpGNN Φ(·) </a:t>
            </a:r>
            <a:endParaRPr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</a:t>
            </a:r>
            <a:r>
              <a:rPr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 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= Φ(G, </a:t>
            </a:r>
            <a:r>
              <a:rPr b="1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</a:t>
            </a:r>
            <a:r>
              <a:rPr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∈ R</a:t>
            </a:r>
            <a:r>
              <a:rPr baseline="30000" lang="en" sz="18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 x d</a:t>
            </a:r>
            <a:endParaRPr sz="1800">
              <a:solidFill>
                <a:schemeClr val="accent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8" name="Google Shape;488;p57"/>
          <p:cNvSpPr txBox="1"/>
          <p:nvPr>
            <p:ph idx="4294967295" type="subTitle"/>
          </p:nvPr>
        </p:nvSpPr>
        <p:spPr>
          <a:xfrm>
            <a:off x="4967800" y="228600"/>
            <a:ext cx="3780600" cy="47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4"/>
                </a:solidFill>
              </a:rPr>
              <a:t>Permutation Equivariance</a:t>
            </a:r>
            <a:endParaRPr sz="17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4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Statistical </a:t>
            </a:r>
            <a:r>
              <a:rPr b="1" lang="en" sz="1700"/>
              <a:t>pooling</a:t>
            </a:r>
            <a:r>
              <a:rPr lang="en" sz="1700"/>
              <a:t> functions ρ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	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</a:rPr>
              <a:t>P(m) = ρ[Φ(G, </a:t>
            </a:r>
            <a:r>
              <a:rPr b="1" lang="en" sz="1700">
                <a:solidFill>
                  <a:schemeClr val="accent3"/>
                </a:solidFill>
              </a:rPr>
              <a:t>q</a:t>
            </a:r>
            <a:r>
              <a:rPr baseline="30000" lang="en" sz="1700">
                <a:solidFill>
                  <a:schemeClr val="accent3"/>
                </a:solidFill>
              </a:rPr>
              <a:t>(1)</a:t>
            </a:r>
            <a:r>
              <a:rPr lang="en" sz="1700">
                <a:solidFill>
                  <a:schemeClr val="accent3"/>
                </a:solidFill>
              </a:rPr>
              <a:t>), …, Φ(G, </a:t>
            </a:r>
            <a:r>
              <a:rPr b="1" lang="en" sz="1700">
                <a:solidFill>
                  <a:schemeClr val="accent3"/>
                </a:solidFill>
              </a:rPr>
              <a:t>q</a:t>
            </a:r>
            <a:r>
              <a:rPr baseline="30000" lang="en" sz="1700">
                <a:solidFill>
                  <a:schemeClr val="accent3"/>
                </a:solidFill>
              </a:rPr>
              <a:t>(M)</a:t>
            </a:r>
            <a:r>
              <a:rPr lang="en" sz="1700">
                <a:solidFill>
                  <a:schemeClr val="accent3"/>
                </a:solidFill>
              </a:rPr>
              <a:t>)]</a:t>
            </a:r>
            <a:endParaRPr sz="17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4"/>
                </a:solidFill>
              </a:rPr>
              <a:t>Basis Universality</a:t>
            </a:r>
            <a:endParaRPr sz="17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For </a:t>
            </a:r>
            <a:r>
              <a:rPr b="1" lang="en" sz="1700">
                <a:solidFill>
                  <a:schemeClr val="accent3"/>
                </a:solidFill>
              </a:rPr>
              <a:t>any</a:t>
            </a:r>
            <a:r>
              <a:rPr lang="en" sz="1700"/>
              <a:t> continuous basis-invariant function  f(</a:t>
            </a:r>
            <a:r>
              <a:rPr b="1" lang="en" sz="1700"/>
              <a:t>V</a:t>
            </a:r>
            <a:r>
              <a:rPr lang="en" sz="1700"/>
              <a:t>) = f(</a:t>
            </a:r>
            <a:r>
              <a:rPr b="1" lang="en" sz="1700"/>
              <a:t>VQ</a:t>
            </a:r>
            <a:r>
              <a:rPr lang="en" sz="1700"/>
              <a:t>), for any </a:t>
            </a:r>
            <a:r>
              <a:rPr b="1" lang="en" sz="1700"/>
              <a:t>Q</a:t>
            </a:r>
            <a:r>
              <a:rPr lang="en" sz="1700"/>
              <a:t> ∈ O(λ), </a:t>
            </a:r>
            <a:r>
              <a:rPr b="1" lang="en" sz="1700"/>
              <a:t>S</a:t>
            </a:r>
            <a:r>
              <a:rPr lang="en" sz="1700"/>
              <a:t> = </a:t>
            </a:r>
            <a:r>
              <a:rPr b="1" lang="en" sz="1700"/>
              <a:t>VΛV</a:t>
            </a:r>
            <a:r>
              <a:rPr baseline="30000" lang="en" sz="1700"/>
              <a:t>T</a:t>
            </a:r>
            <a:endParaRPr baseline="3000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=&gt;∃ GNN Φ and equivariant function ρ :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f(</a:t>
            </a:r>
            <a:r>
              <a:rPr b="1" lang="en" sz="1700"/>
              <a:t>V</a:t>
            </a:r>
            <a:r>
              <a:rPr lang="en" sz="1700"/>
              <a:t>) = ρ[Φ(G, q</a:t>
            </a:r>
            <a:r>
              <a:rPr baseline="30000" lang="en" sz="1700"/>
              <a:t>(1)</a:t>
            </a:r>
            <a:r>
              <a:rPr lang="en" sz="1700"/>
              <a:t>), …, Φ(G, q</a:t>
            </a:r>
            <a:r>
              <a:rPr baseline="30000" lang="en" sz="1700"/>
              <a:t>(M)</a:t>
            </a:r>
            <a:r>
              <a:rPr lang="en" sz="1700"/>
              <a:t>)]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3" name="Google Shape;493;p58"/>
          <p:cNvCxnSpPr/>
          <p:nvPr/>
        </p:nvCxnSpPr>
        <p:spPr>
          <a:xfrm>
            <a:off x="4572000" y="912725"/>
            <a:ext cx="0" cy="3999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58"/>
          <p:cNvSpPr txBox="1"/>
          <p:nvPr>
            <p:ph type="title"/>
          </p:nvPr>
        </p:nvSpPr>
        <p:spPr>
          <a:xfrm>
            <a:off x="228300" y="921925"/>
            <a:ext cx="38667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R-PEARL</a:t>
            </a:r>
            <a:endParaRPr/>
          </a:p>
        </p:txBody>
      </p:sp>
      <p:sp>
        <p:nvSpPr>
          <p:cNvPr id="495" name="Google Shape;495;p58"/>
          <p:cNvSpPr txBox="1"/>
          <p:nvPr>
            <p:ph idx="2" type="title"/>
          </p:nvPr>
        </p:nvSpPr>
        <p:spPr>
          <a:xfrm>
            <a:off x="4788000" y="863625"/>
            <a:ext cx="4030800" cy="33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B-PEARL</a:t>
            </a:r>
            <a:endParaRPr/>
          </a:p>
        </p:txBody>
      </p:sp>
      <p:sp>
        <p:nvSpPr>
          <p:cNvPr id="496" name="Google Shape;496;p58"/>
          <p:cNvSpPr/>
          <p:nvPr/>
        </p:nvSpPr>
        <p:spPr>
          <a:xfrm>
            <a:off x="228600" y="229900"/>
            <a:ext cx="1773300" cy="2772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Positional Encoding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97" name="Google Shape;497;p58"/>
          <p:cNvSpPr txBox="1"/>
          <p:nvPr/>
        </p:nvSpPr>
        <p:spPr>
          <a:xfrm>
            <a:off x="228600" y="1345400"/>
            <a:ext cx="4134300" cy="20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Node attributes </a:t>
            </a:r>
            <a:r>
              <a:rPr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{</a:t>
            </a:r>
            <a:r>
              <a:rPr b="1"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baseline="30000"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</a:t>
            </a:r>
            <a:r>
              <a:rPr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}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independent and identically distributed random variables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Φ(G, </a:t>
            </a:r>
            <a:r>
              <a:rPr b="1"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aseline="30000"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</a:t>
            </a: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is itself permutation equivariant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ρ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Mean: favorable convergence, stability properties and simplicity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Ideal for </a:t>
            </a: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large graph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M &lt;&lt; N, O(N)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small graph, M ~ N, O(N</a:t>
            </a:r>
            <a:r>
              <a:rPr baseline="30000"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58"/>
          <p:cNvSpPr txBox="1"/>
          <p:nvPr/>
        </p:nvSpPr>
        <p:spPr>
          <a:xfrm>
            <a:off x="4781100" y="1345400"/>
            <a:ext cx="41343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9" name="Google Shape;499;p58"/>
          <p:cNvSpPr/>
          <p:nvPr/>
        </p:nvSpPr>
        <p:spPr>
          <a:xfrm rot="5400000">
            <a:off x="1579950" y="2146925"/>
            <a:ext cx="1500900" cy="4051200"/>
          </a:xfrm>
          <a:prstGeom prst="round2SameRect">
            <a:avLst>
              <a:gd fmla="val 10801" name="adj1"/>
              <a:gd fmla="val 368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0" name="Google Shape;500;p58"/>
          <p:cNvSpPr/>
          <p:nvPr/>
        </p:nvSpPr>
        <p:spPr>
          <a:xfrm rot="5400000">
            <a:off x="6052950" y="2146925"/>
            <a:ext cx="1500900" cy="4051200"/>
          </a:xfrm>
          <a:prstGeom prst="round2SameRect">
            <a:avLst>
              <a:gd fmla="val 10801" name="adj1"/>
              <a:gd fmla="val 3687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501" name="Google Shape;501;p58" title="Screenshot From 2026-01-17 18-53-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00" y="3422075"/>
            <a:ext cx="3478849" cy="6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58" title="Screenshot From 2026-01-17 18-55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975" y="4219400"/>
            <a:ext cx="3098274" cy="6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58"/>
          <p:cNvSpPr txBox="1"/>
          <p:nvPr/>
        </p:nvSpPr>
        <p:spPr>
          <a:xfrm>
            <a:off x="4736250" y="1345400"/>
            <a:ext cx="4134300" cy="184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Standard basis vectors </a:t>
            </a:r>
            <a:r>
              <a:rPr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{</a:t>
            </a:r>
            <a:r>
              <a:rPr b="1"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</a:t>
            </a:r>
            <a:r>
              <a:rPr baseline="-25000"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</a:t>
            </a:r>
            <a:r>
              <a:rPr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}  </a:t>
            </a:r>
            <a:endParaRPr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</a:t>
            </a:r>
            <a:r>
              <a:rPr baseline="-25000" lang="en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</a:t>
            </a:r>
            <a:r>
              <a:rPr lang="en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[m] = 1 and e</a:t>
            </a:r>
            <a:r>
              <a:rPr baseline="-25000" lang="en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</a:t>
            </a:r>
            <a:r>
              <a:rPr lang="en">
                <a:solidFill>
                  <a:schemeClr val="lt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[i ̸= m] = 0</a:t>
            </a:r>
            <a:endParaRPr>
              <a:solidFill>
                <a:schemeClr val="lt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lus Jakarta Sans"/>
              <a:buChar char="●"/>
            </a:pP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Φ(G, </a:t>
            </a:r>
            <a:r>
              <a:rPr b="1"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q</a:t>
            </a:r>
            <a:r>
              <a:rPr baseline="30000" lang="en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(m)</a:t>
            </a: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itself permutation equivariant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ρ </a:t>
            </a:r>
            <a:r>
              <a:rPr lang="en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Sum: permutation equivariant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Ideal for </a:t>
            </a:r>
            <a:r>
              <a:rPr lang="en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small graph</a:t>
            </a:r>
            <a:r>
              <a:rPr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, same O(N</a:t>
            </a:r>
            <a:r>
              <a:rPr baseline="30000"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but with better performance</a:t>
            </a:r>
            <a:endParaRPr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4" name="Google Shape;504;p58"/>
          <p:cNvSpPr/>
          <p:nvPr/>
        </p:nvSpPr>
        <p:spPr>
          <a:xfrm>
            <a:off x="1571113" y="874825"/>
            <a:ext cx="1848000" cy="3714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Θ(M·N·F² + M·|E|·F)</a:t>
            </a:r>
            <a:endParaRPr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05" name="Google Shape;505;p58"/>
          <p:cNvSpPr/>
          <p:nvPr/>
        </p:nvSpPr>
        <p:spPr>
          <a:xfrm>
            <a:off x="6108713" y="874825"/>
            <a:ext cx="1848000" cy="371400"/>
          </a:xfrm>
          <a:prstGeom prst="roundRect">
            <a:avLst>
              <a:gd fmla="val 26895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Θ(N</a:t>
            </a:r>
            <a:r>
              <a:rPr baseline="30000" lang="en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2</a:t>
            </a:r>
            <a:r>
              <a:rPr lang="en">
                <a:solidFill>
                  <a:schemeClr val="l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·F² + N·|E|·F)</a:t>
            </a:r>
            <a:endParaRPr>
              <a:solidFill>
                <a:schemeClr val="l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pic>
        <p:nvPicPr>
          <p:cNvPr id="506" name="Google Shape;50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9749" y="3504375"/>
            <a:ext cx="3264275" cy="5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58" title="Screenshot From 2026-01-17 20-12-4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3938" y="4194575"/>
            <a:ext cx="2295896" cy="6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59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Model</a:t>
            </a:r>
            <a:endParaRPr/>
          </a:p>
        </p:txBody>
      </p:sp>
      <p:sp>
        <p:nvSpPr>
          <p:cNvPr id="513" name="Google Shape;513;p59"/>
          <p:cNvSpPr txBox="1"/>
          <p:nvPr>
            <p:ph idx="1" type="subTitle"/>
          </p:nvPr>
        </p:nvSpPr>
        <p:spPr>
          <a:xfrm>
            <a:off x="228600" y="952675"/>
            <a:ext cx="8686800" cy="39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DD8888"/>
                </a:solidFill>
                <a:latin typeface="Consolas"/>
                <a:ea typeface="Consolas"/>
                <a:cs typeface="Consolas"/>
                <a:sym typeface="Consolas"/>
              </a:rPr>
              <a:t>PEARL_GNN_Model</a:t>
            </a: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(nn.Module):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node_features: nn.Embedding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positional_encoding: PEARLPositionalEncoder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pe_embedding: nn.Linear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base_model: GINEBaseModel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DD8888"/>
                </a:solidFill>
                <a:latin typeface="Consolas"/>
                <a:ea typeface="Consolas"/>
                <a:cs typeface="Consolas"/>
                <a:sym typeface="Consolas"/>
              </a:rPr>
              <a:t>__init__</a:t>
            </a: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(self, mf: ModelFactory):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super(PEARL_GNN_Model, self).__init__()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self.node_features = nn.Embedding(mf.hp.n_node_types, mf.hp.node_emb_dims)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self.positional_encoding = PEARLPositionalEncoder(mf)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self.pe_embedding = nn.Linear(self.positional_encoding.out_dims, mf.hp.node_emb_dims)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self.base_model = GINEBaseModel(mf)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DD8888"/>
                </a:solidFill>
                <a:latin typeface="Consolas"/>
                <a:ea typeface="Consolas"/>
                <a:cs typeface="Consolas"/>
                <a:sym typeface="Consolas"/>
              </a:rPr>
              <a:t>forward</a:t>
            </a: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(self, batch: Batch) -&gt; torch.Tensor: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X_n = self.node_features(batch.x.squeeze(dim=1))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PE = self.positional_encoding(batch)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X_n = X_n + self.pe_embedding(PE)</a:t>
            </a:r>
            <a:b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100">
                <a:solidFill>
                  <a:srgbClr val="DDDDDD"/>
                </a:solidFill>
                <a:latin typeface="Consolas"/>
                <a:ea typeface="Consolas"/>
                <a:cs typeface="Consolas"/>
                <a:sym typeface="Consolas"/>
              </a:rPr>
              <a:t> self.base_model(X_n, batch.edge_index, batch.edge_attr, PE, batch.batch)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514" name="Google Shape;514;p59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515" name="Google Shape;515;p59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516" name="Google Shape;516;p59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517" name="Google Shape;517;p59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518" name="Google Shape;518;p59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519" name="Google Shape;519;p59" title="Screenshot 2026-01-17 at 22.27.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300" y="86575"/>
            <a:ext cx="5040849" cy="19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0"/>
          <p:cNvSpPr txBox="1"/>
          <p:nvPr>
            <p:ph idx="1" type="subTitle"/>
          </p:nvPr>
        </p:nvSpPr>
        <p:spPr>
          <a:xfrm>
            <a:off x="228600" y="4619400"/>
            <a:ext cx="4887000" cy="3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hyperparameters of the Paper code base - with few </a:t>
            </a:r>
            <a:r>
              <a:rPr lang="en"/>
              <a:t>#(epochs)</a:t>
            </a:r>
            <a:endParaRPr/>
          </a:p>
        </p:txBody>
      </p:sp>
      <p:sp>
        <p:nvSpPr>
          <p:cNvPr id="525" name="Google Shape;525;p60"/>
          <p:cNvSpPr/>
          <p:nvPr/>
        </p:nvSpPr>
        <p:spPr>
          <a:xfrm>
            <a:off x="228600" y="229900"/>
            <a:ext cx="1340400" cy="304800"/>
          </a:xfrm>
          <a:prstGeom prst="roundRect">
            <a:avLst>
              <a:gd fmla="val 26895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My Experiment</a:t>
            </a:r>
            <a:endParaRPr sz="1000">
              <a:solidFill>
                <a:schemeClr val="accent3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26" name="Google Shape;526;p60"/>
          <p:cNvSpPr/>
          <p:nvPr/>
        </p:nvSpPr>
        <p:spPr>
          <a:xfrm>
            <a:off x="228600" y="632050"/>
            <a:ext cx="2818200" cy="1706700"/>
          </a:xfrm>
          <a:prstGeom prst="roundRect">
            <a:avLst>
              <a:gd fmla="val 990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DataSet: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PTG ZINC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Optimizer: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Adam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Scheduler: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LambdaLR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Loss: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MAE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 selection: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Best Val</a:t>
            </a: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7" name="Google Shape;527;p60"/>
          <p:cNvSpPr/>
          <p:nvPr/>
        </p:nvSpPr>
        <p:spPr>
          <a:xfrm>
            <a:off x="6097300" y="632050"/>
            <a:ext cx="2818200" cy="1706700"/>
          </a:xfrm>
          <a:prstGeom prst="roundRect">
            <a:avLst>
              <a:gd fmla="val 990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GINE layers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Sample Agg. Layers: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Sample Agg. Hdim: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Device: </a:t>
            </a:r>
            <a:r>
              <a:rPr lang="en" sz="11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AMD Radeon RX 7800 XT</a:t>
            </a:r>
            <a:endParaRPr sz="11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GSO: </a:t>
            </a:r>
            <a:r>
              <a:rPr lang="en" sz="11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Normalized Laplacian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8" name="Google Shape;528;p60"/>
          <p:cNvSpPr/>
          <p:nvPr/>
        </p:nvSpPr>
        <p:spPr>
          <a:xfrm>
            <a:off x="3162950" y="632050"/>
            <a:ext cx="2818200" cy="1706700"/>
          </a:xfrm>
          <a:prstGeom prst="roundRect">
            <a:avLst>
              <a:gd fmla="val 990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#(node types):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28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#(n_edge_types):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Node emb dim: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Dropout prob: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0.0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Normaliz: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Batch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60"/>
          <p:cNvSpPr/>
          <p:nvPr/>
        </p:nvSpPr>
        <p:spPr>
          <a:xfrm>
            <a:off x="228550" y="2464831"/>
            <a:ext cx="2818200" cy="1706700"/>
          </a:xfrm>
          <a:prstGeom prst="roundRect">
            <a:avLst>
              <a:gd fmla="val 990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Learning Rate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baseline="30000"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-3</a:t>
            </a:r>
            <a:endParaRPr baseline="30000"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Weight Decay: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baseline="30000"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-6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#(epochs): </a:t>
            </a:r>
            <a:r>
              <a:rPr lang="en" sz="1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67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1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240</a:t>
            </a:r>
            <a:endParaRPr sz="16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#(warm up steps):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100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Model selection: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Best Val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0" name="Google Shape;530;p60"/>
          <p:cNvSpPr/>
          <p:nvPr/>
        </p:nvSpPr>
        <p:spPr>
          <a:xfrm>
            <a:off x="6097250" y="2464831"/>
            <a:ext cx="2818200" cy="1706700"/>
          </a:xfrm>
          <a:prstGeom prst="roundRect">
            <a:avLst>
              <a:gd fmla="val 990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 dim: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PEARL MPL Layers: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PEARL MPL Hdim: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PEARL MLP out: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Seed: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sz="1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1" name="Google Shape;531;p60"/>
          <p:cNvSpPr/>
          <p:nvPr/>
        </p:nvSpPr>
        <p:spPr>
          <a:xfrm>
            <a:off x="3162900" y="2464831"/>
            <a:ext cx="2818200" cy="1706700"/>
          </a:xfrm>
          <a:prstGeom prst="roundRect">
            <a:avLst>
              <a:gd fmla="val 990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Batch size</a:t>
            </a: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R-PEARL </a:t>
            </a:r>
            <a:r>
              <a:rPr lang="en" sz="1600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B-PEARL</a:t>
            </a:r>
            <a:endParaRPr sz="1600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PEARL </a:t>
            </a:r>
            <a:r>
              <a:rPr lang="en" sz="16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K: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#(samples): </a:t>
            </a:r>
            <a:r>
              <a:rPr lang="en" sz="1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120</a:t>
            </a:r>
            <a:endParaRPr sz="16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#(params)</a:t>
            </a:r>
            <a:r>
              <a:rPr lang="en" sz="1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" sz="16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644,241</a:t>
            </a:r>
            <a:endParaRPr sz="1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1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R-PEARL </a:t>
            </a:r>
            <a:endParaRPr/>
          </a:p>
        </p:txBody>
      </p:sp>
      <p:grpSp>
        <p:nvGrpSpPr>
          <p:cNvPr id="537" name="Google Shape;537;p61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538" name="Google Shape;538;p61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539" name="Google Shape;539;p61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540" name="Google Shape;540;p61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541" name="Google Shape;541;p61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542" name="Google Shape;542;p61" title="epochs_progress_pearl_random_67e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35100"/>
            <a:ext cx="7007274" cy="3503637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61"/>
          <p:cNvSpPr txBox="1"/>
          <p:nvPr/>
        </p:nvSpPr>
        <p:spPr>
          <a:xfrm>
            <a:off x="7389525" y="144900"/>
            <a:ext cx="1467300" cy="4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 epochs</a:t>
            </a: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 67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 M: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120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Test MAE: 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0.1443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2"/>
          <p:cNvSpPr txBox="1"/>
          <p:nvPr>
            <p:ph type="title"/>
          </p:nvPr>
        </p:nvSpPr>
        <p:spPr>
          <a:xfrm>
            <a:off x="228600" y="228600"/>
            <a:ext cx="64215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B-PEARL </a:t>
            </a:r>
            <a:endParaRPr/>
          </a:p>
        </p:txBody>
      </p:sp>
      <p:grpSp>
        <p:nvGrpSpPr>
          <p:cNvPr id="549" name="Google Shape;549;p62"/>
          <p:cNvGrpSpPr/>
          <p:nvPr/>
        </p:nvGrpSpPr>
        <p:grpSpPr>
          <a:xfrm>
            <a:off x="8349009" y="4345925"/>
            <a:ext cx="566400" cy="566400"/>
            <a:chOff x="8349009" y="4345925"/>
            <a:chExt cx="566400" cy="566400"/>
          </a:xfrm>
        </p:grpSpPr>
        <p:sp>
          <p:nvSpPr>
            <p:cNvPr id="550" name="Google Shape;550;p62"/>
            <p:cNvSpPr/>
            <p:nvPr/>
          </p:nvSpPr>
          <p:spPr>
            <a:xfrm>
              <a:off x="8349009" y="4345925"/>
              <a:ext cx="566400" cy="566400"/>
            </a:xfrm>
            <a:prstGeom prst="roundRect">
              <a:avLst>
                <a:gd fmla="val 22469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551" name="Google Shape;551;p62"/>
            <p:cNvGrpSpPr/>
            <p:nvPr/>
          </p:nvGrpSpPr>
          <p:grpSpPr>
            <a:xfrm>
              <a:off x="8518721" y="4521773"/>
              <a:ext cx="226973" cy="214726"/>
              <a:chOff x="7312075" y="834700"/>
              <a:chExt cx="1022400" cy="966799"/>
            </a:xfrm>
          </p:grpSpPr>
          <p:sp>
            <p:nvSpPr>
              <p:cNvPr id="552" name="Google Shape;552;p62"/>
              <p:cNvSpPr/>
              <p:nvPr/>
            </p:nvSpPr>
            <p:spPr>
              <a:xfrm>
                <a:off x="7312075" y="834700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  <p:sp>
            <p:nvSpPr>
              <p:cNvPr id="553" name="Google Shape;553;p62"/>
              <p:cNvSpPr/>
              <p:nvPr/>
            </p:nvSpPr>
            <p:spPr>
              <a:xfrm>
                <a:off x="7312075" y="1363499"/>
                <a:ext cx="1022400" cy="438000"/>
              </a:xfrm>
              <a:prstGeom prst="roundRect">
                <a:avLst>
                  <a:gd fmla="val 50000" name="adj"/>
                </a:avLst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554" name="Google Shape;554;p62" title="epochs_progress_pearl_basis_240e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35100"/>
            <a:ext cx="7007274" cy="3503637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62"/>
          <p:cNvSpPr txBox="1"/>
          <p:nvPr/>
        </p:nvSpPr>
        <p:spPr>
          <a:xfrm>
            <a:off x="7389525" y="144900"/>
            <a:ext cx="1467300" cy="4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# epochs:  </a:t>
            </a: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240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Test MAE: 0.0981</a:t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3"/>
          <p:cNvSpPr txBox="1"/>
          <p:nvPr>
            <p:ph type="title"/>
          </p:nvPr>
        </p:nvSpPr>
        <p:spPr>
          <a:xfrm>
            <a:off x="570013" y="3961157"/>
            <a:ext cx="5582100" cy="60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561" name="Google Shape;561;p63"/>
          <p:cNvSpPr txBox="1"/>
          <p:nvPr/>
        </p:nvSpPr>
        <p:spPr>
          <a:xfrm>
            <a:off x="524725" y="495600"/>
            <a:ext cx="3000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Student: Fabio Massimo Ercoli </a:t>
            </a:r>
            <a:endParaRPr sz="12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Code: 802397</a:t>
            </a:r>
            <a:endParaRPr sz="1200">
              <a:solidFill>
                <a:schemeClr val="lt1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Course: Neural Networks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op Facilitation">
  <a:themeElements>
    <a:clrScheme name="Simple Light">
      <a:dk1>
        <a:srgbClr val="10100F"/>
      </a:dk1>
      <a:lt1>
        <a:srgbClr val="F8F3EC"/>
      </a:lt1>
      <a:dk2>
        <a:srgbClr val="810100"/>
      </a:dk2>
      <a:lt2>
        <a:srgbClr val="F8F3EC"/>
      </a:lt2>
      <a:accent1>
        <a:srgbClr val="B82D2D"/>
      </a:accent1>
      <a:accent2>
        <a:srgbClr val="FB6058"/>
      </a:accent2>
      <a:accent3>
        <a:srgbClr val="FFD979"/>
      </a:accent3>
      <a:accent4>
        <a:srgbClr val="FFADA8"/>
      </a:accent4>
      <a:accent5>
        <a:srgbClr val="570100"/>
      </a:accent5>
      <a:accent6>
        <a:srgbClr val="303030"/>
      </a:accent6>
      <a:hlink>
        <a:srgbClr val="FC60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